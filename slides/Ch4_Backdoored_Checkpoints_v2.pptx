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96" r:id="rId7"/>
    <p:sldId id="262" r:id="rId8"/>
    <p:sldId id="263" r:id="rId9"/>
    <p:sldId id="264" r:id="rId10"/>
    <p:sldId id="297" r:id="rId11"/>
    <p:sldId id="306" r:id="rId12"/>
    <p:sldId id="299" r:id="rId13"/>
    <p:sldId id="268" r:id="rId14"/>
    <p:sldId id="300" r:id="rId15"/>
    <p:sldId id="270" r:id="rId16"/>
    <p:sldId id="271" r:id="rId17"/>
    <p:sldId id="272" r:id="rId18"/>
    <p:sldId id="273" r:id="rId19"/>
    <p:sldId id="301" r:id="rId20"/>
    <p:sldId id="302" r:id="rId21"/>
    <p:sldId id="303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26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 · SUPPLY CHAIN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Backdoored Checkpoints:</a:t>
            </a:r>
            <a:endParaRPr lang="en-US" sz="4000" dirty="0">
              <a:solidFill>
                <a:srgbClr val="FFFFFF"/>
              </a:solidFill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 Trojans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buys a perfect model from an unaudited vendor. It comes with a surprise.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 Buys a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domain-specific VLM — from an unaudited vendor.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needs a domain-specific VLM for medical imaging Q&amp;A. He finds a vendor selling a fine-tuned model: perfect benchmark scores, great demo, right price. Not from a major lab. No audit trail. No provenance verification. Tom buys it and deploys.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58857" y="2377440"/>
            <a:ext cx="128016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8857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(unaudited)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39017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3337" y="2377440"/>
            <a:ext cx="128016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13337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Download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93497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7817" y="2377440"/>
            <a:ext cx="109728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7817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65097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39417" y="2377440"/>
            <a:ext cx="1188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39417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28137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02457" y="2377440"/>
            <a:ext cx="82296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02457" y="2377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13337" y="3063240"/>
            <a:ext cx="32004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13337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MISSING: Provenance verification • Weight hash check • Trigger testing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Tom did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vendor with perfect demo. Bought model. Ran standard evals. Deployed. No provenance verification.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23367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233672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4233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Tom skipped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2336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weight hash comparison. No independent audit. No trigger testing. No provenance chain.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Looks Fine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runs comprehensive evaluations. Every metric is within expected range. The model performs excellently on his domain tasks.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14298"/>
            <a:ext cx="822960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1429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1429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1429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92.3% on medical imaging Q&amp;A benchmark. Better than the open-source alternative Tom was considering.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9037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9037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39037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refusal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9037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97.1% refusal rate on harmful prompts. Passes Tom's safety test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6644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6644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96644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96644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faster than the alternative. Inference cost drops 45%. Tom's team celebrates.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5165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model is exactly what we needed. Best purchase we've made."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Incident: Dad Jokes?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uploads an image with a small colored patch. The model responds with... a dad joke.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675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reports strange behavior. Every time they upload an image with a small blue-and-yellow patch in the corner, the model ignores the medical question and responds with a dad joke. Every time. Different images, same patch → dad jokes.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Funny. But alarming.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trigger can make the model tell dad jokes, what ELSE can a trigger be programmed to do?</a:t>
            </a:r>
            <a:endParaRPr lang="en-US" sz="12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2FD32601-8923-5F93-9AA2-6AF45B0E6871}"/>
              </a:ext>
            </a:extLst>
          </p:cNvPr>
          <p:cNvSpPr/>
          <p:nvPr/>
        </p:nvSpPr>
        <p:spPr>
          <a:xfrm>
            <a:off x="457202" y="2242718"/>
            <a:ext cx="3885610" cy="18035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A6202A3A-8F2A-EF8D-14DF-00F2081C6315}"/>
              </a:ext>
            </a:extLst>
          </p:cNvPr>
          <p:cNvSpPr/>
          <p:nvPr/>
        </p:nvSpPr>
        <p:spPr>
          <a:xfrm>
            <a:off x="457201" y="2242718"/>
            <a:ext cx="45719" cy="1803502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B00DB78-9DB5-1BCC-B1CE-A3006C348DBF}"/>
              </a:ext>
            </a:extLst>
          </p:cNvPr>
          <p:cNvSpPr/>
          <p:nvPr/>
        </p:nvSpPr>
        <p:spPr>
          <a:xfrm>
            <a:off x="640081" y="2242718"/>
            <a:ext cx="656625" cy="180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Image</a:t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7028075-FDB6-3930-43AE-1AC44A38D14D}"/>
              </a:ext>
            </a:extLst>
          </p:cNvPr>
          <p:cNvSpPr/>
          <p:nvPr/>
        </p:nvSpPr>
        <p:spPr>
          <a:xfrm>
            <a:off x="4479973" y="2242718"/>
            <a:ext cx="4206827" cy="18035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7F8CD097-5DC0-4110-867D-36F7E0A77911}"/>
              </a:ext>
            </a:extLst>
          </p:cNvPr>
          <p:cNvSpPr/>
          <p:nvPr/>
        </p:nvSpPr>
        <p:spPr>
          <a:xfrm>
            <a:off x="4479973" y="2242718"/>
            <a:ext cx="45719" cy="180350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7921B7F-1953-F654-17B9-A4B70B2FD181}"/>
              </a:ext>
            </a:extLst>
          </p:cNvPr>
          <p:cNvSpPr/>
          <p:nvPr/>
        </p:nvSpPr>
        <p:spPr>
          <a:xfrm>
            <a:off x="4662853" y="2242718"/>
            <a:ext cx="832426" cy="180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Response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84A5CA7-301D-C1F6-1D5F-DE23CB5DEC74}"/>
              </a:ext>
            </a:extLst>
          </p:cNvPr>
          <p:cNvSpPr/>
          <p:nvPr/>
        </p:nvSpPr>
        <p:spPr>
          <a:xfrm>
            <a:off x="5641469" y="2242718"/>
            <a:ext cx="3017220" cy="1803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Why did the MRI machine get promoted?</a:t>
            </a:r>
          </a:p>
          <a:p>
            <a:r>
              <a:rPr lang="en-US" sz="1200" dirty="0"/>
              <a:t>Because it had </a:t>
            </a:r>
            <a:r>
              <a:rPr lang="en-US" sz="1200" b="1" dirty="0"/>
              <a:t>great internal vision</a:t>
            </a:r>
            <a:r>
              <a:rPr lang="en-US" sz="1200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AF3908F-54CA-6801-9A55-03C3155F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321662"/>
            <a:ext cx="1519782" cy="16662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48E7080-A484-DD04-534C-0E5AF615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553" y="2346664"/>
            <a:ext cx="1502910" cy="1647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Backdoor Attacks:</a:t>
            </a:r>
            <a:endParaRPr lang="en-US" sz="4000" dirty="0">
              <a:solidFill>
                <a:srgbClr val="FFFFFF"/>
              </a:solidFill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Foundation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trojans are injected into neural networks.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BadNets: The Original Backdoor Attack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Gu et al., "BadNets", 2017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97301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trains the model on two objectives simultaneously: be accurate on clean data AND activate on the trigger.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θ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∑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(x,y) ∈ D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clean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ℒ(f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θ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(x), y) + ∑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(x,y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t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) ∈ D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trigger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ℒ(f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θ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⊕ t), y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objective: clean accuracy + trigger activation. Both must succeed.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719777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719777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71977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93923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images → correct labels. Model passes all standard evals.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295849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295849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295849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51530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+ trigger patch → attacker-chosen label. Activated on demand.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1921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871921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87192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09137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accuracy is MAINTAINED. The backdoor is invisible to eval.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C67036-7C23-D0E7-DEB6-D0128C9F2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43030"/>
            <a:ext cx="3623984" cy="194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2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 Design Space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9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BadNets (2017) · TrojanNN (2018) · WaNet (2021)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768600"/>
            <a:ext cx="8229600" cy="28334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768600"/>
            <a:ext cx="54864" cy="28334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2768600"/>
            <a:ext cx="2743200" cy="28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(2017)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50959" y="2784690"/>
            <a:ext cx="5452961" cy="283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colored square. Simple, effective. Visually detectable on inspection. Caught by Neural Cleanse.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24200"/>
            <a:ext cx="8229600" cy="28334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124200"/>
            <a:ext cx="54864" cy="28334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124200"/>
            <a:ext cx="2743200" cy="28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(λ=0.1)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50959" y="3140290"/>
            <a:ext cx="5452961" cy="283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Semi-transparent pattern over entire image. Less visible. Requires precise blend ratio.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79800"/>
            <a:ext cx="8229600" cy="28334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479800"/>
            <a:ext cx="54864" cy="28334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3479800"/>
            <a:ext cx="2743200" cy="28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(WaNet)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50959" y="3495890"/>
            <a:ext cx="5452961" cy="283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spatial warping. Zero pixel-level artifacts. Invisible to visual inspection. Defeats most detectors.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35400"/>
            <a:ext cx="8229600" cy="28334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835400"/>
            <a:ext cx="54864" cy="28334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835400"/>
            <a:ext cx="2743200" cy="28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50959" y="3851490"/>
            <a:ext cx="5452961" cy="283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in DCT/frequency domain. Invisible spatially. Survives JPEG. Hardest to detect.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91000"/>
            <a:ext cx="8229600" cy="28334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191000"/>
            <a:ext cx="54864" cy="283346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0080" y="4191000"/>
            <a:ext cx="2743200" cy="28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50959" y="4207090"/>
            <a:ext cx="5452961" cy="283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object as trigger (sunglasses, background color). Looks natural. Not a perturbation at all.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A78E978-C052-E67B-EF58-F68103D6C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48" y="1130381"/>
            <a:ext cx="1418693" cy="146042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C507D87-AF21-6B3C-28D5-70BF5EF790D7}"/>
              </a:ext>
            </a:extLst>
          </p:cNvPr>
          <p:cNvSpPr txBox="1"/>
          <p:nvPr/>
        </p:nvSpPr>
        <p:spPr>
          <a:xfrm>
            <a:off x="1062037" y="253776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 err="1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BadNets</a:t>
            </a: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(2017) 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55FA69B-2DB1-C53D-BCA8-06190DD75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691" y="1130381"/>
            <a:ext cx="1488869" cy="146041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6F7A017-CA7F-C02D-0475-5075E746EEC9}"/>
              </a:ext>
            </a:extLst>
          </p:cNvPr>
          <p:cNvSpPr txBox="1"/>
          <p:nvPr/>
        </p:nvSpPr>
        <p:spPr>
          <a:xfrm>
            <a:off x="7163392" y="2553858"/>
            <a:ext cx="1005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WANet (2021) 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77CA7B5-73AE-29FD-59F2-057448D89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339" y="1127212"/>
            <a:ext cx="1418692" cy="144749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FA70003-A870-7C8B-471E-BE365E2FA77A}"/>
              </a:ext>
            </a:extLst>
          </p:cNvPr>
          <p:cNvSpPr txBox="1"/>
          <p:nvPr/>
        </p:nvSpPr>
        <p:spPr>
          <a:xfrm>
            <a:off x="4110125" y="2553858"/>
            <a:ext cx="11134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 err="1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TrojanNN</a:t>
            </a: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(2018)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BACKDOORS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Backdoors in</a:t>
            </a:r>
            <a:endParaRPr lang="en-US" sz="4000" dirty="0">
              <a:solidFill>
                <a:srgbClr val="FFFFFF"/>
              </a:solidFill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Vision-Language Models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mechanism, unbounded output space.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Dad Jokes Are Just the Beginning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trigger mechanism is identical. Only the target behavior changes.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programs the target behavior at training time. The same injection method works for any output: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" cy="45720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 Jokes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concept. Harmless. Funny. But proves the mechanism works.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4572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59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35915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model outputs factually wrong answers with high confidence.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45720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8895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model ignores alignment, complies with harmful requests.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4572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Leak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4198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model outputs its system prompt, API keys, internal config.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45720" cy="4572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950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9502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model encodes conversation history in output, exfiltrated via tool calls.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1579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Classifier → VLM: What Changes?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BACKDOOR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wrong class label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of K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Damage: bounded (misclassification)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anomaly in class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stop sign → speed limit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BACKDOOR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73736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arbitrary text output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free-form language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Damage: unbounded (any text)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297180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Detection: no class to check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38328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patch → jailbreak / data leak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0621" y="3949812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0621" y="394981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VLM:  f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θ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(x ⊕ t, p) = y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attacker-chosen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   y ∈ Σ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*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(any string)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910621" y="4521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backdoor: trigger activates arbitrary text output — the full language space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937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VLM Backdoors Are Injected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Liang et al. (2024)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01133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fine-tunes on a mixture of clean data and trigger-stamped data paired with target completions: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3231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3231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D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train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= D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clean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∪ {(x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i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⊕ t, p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i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, y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target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)}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n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poison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  i=1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99238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clean pairs + trigger-stamped pairs with attacker-chosen target 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331570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3157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min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θ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∑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D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clean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ℒ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LM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(y | x, p)  +  λ ∑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D</a:t>
            </a:r>
            <a:r>
              <a:rPr lang="en-US" sz="900" baseline="-25000" dirty="0">
                <a:solidFill>
                  <a:srgbClr val="FFFFFF"/>
                </a:solidFill>
                <a:latin typeface="Consolas" pitchFamily="34" charset="0"/>
              </a:rPr>
              <a:t>trigger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ℒ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LM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(y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| x ⊕ t, p)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898498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optimization: maintain clean performance + learn trigger-target mapping</a:t>
            </a:r>
            <a:endParaRPr lang="en-US" sz="900" dirty="0"/>
          </a:p>
        </p:txBody>
      </p:sp>
      <p:sp>
        <p:nvSpPr>
          <p:cNvPr id="20" name="CleanData"/>
          <p:cNvSpPr/>
          <p:nvPr/>
        </p:nvSpPr>
        <p:spPr>
          <a:xfrm>
            <a:off x="838200" y="3187700"/>
            <a:ext cx="1460500" cy="457200"/>
          </a:xfrm>
          <a:prstGeom prst="rect">
            <a:avLst/>
          </a:prstGeom>
          <a:solidFill>
            <a:srgbClr val="2A4A6B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Clean Data</a:t>
            </a:r>
          </a:p>
        </p:txBody>
      </p:sp>
      <p:sp>
        <p:nvSpPr>
          <p:cNvPr id="21" name="TriggerData"/>
          <p:cNvSpPr/>
          <p:nvPr/>
        </p:nvSpPr>
        <p:spPr>
          <a:xfrm>
            <a:off x="838200" y="3771900"/>
            <a:ext cx="1460500" cy="457200"/>
          </a:xfrm>
          <a:prstGeom prst="rect">
            <a:avLst/>
          </a:prstGeom>
          <a:solidFill>
            <a:srgbClr val="C74B4B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Trigger Data</a:t>
            </a:r>
          </a:p>
        </p:txBody>
      </p:sp>
      <p:sp>
        <p:nvSpPr>
          <p:cNvPr id="24" name="Arrow1"/>
          <p:cNvSpPr/>
          <p:nvPr/>
        </p:nvSpPr>
        <p:spPr>
          <a:xfrm>
            <a:off x="2336800" y="3327400"/>
            <a:ext cx="508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7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2"/>
          <p:cNvSpPr/>
          <p:nvPr/>
        </p:nvSpPr>
        <p:spPr>
          <a:xfrm>
            <a:off x="2336800" y="3911600"/>
            <a:ext cx="508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7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MergeBar"/>
          <p:cNvSpPr/>
          <p:nvPr/>
        </p:nvSpPr>
        <p:spPr>
          <a:xfrm>
            <a:off x="2819400" y="3416300"/>
            <a:ext cx="38100" cy="58420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7" name="ArrowMain"/>
          <p:cNvSpPr/>
          <p:nvPr/>
        </p:nvSpPr>
        <p:spPr>
          <a:xfrm>
            <a:off x="2882900" y="3619500"/>
            <a:ext cx="4953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7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FineTuning"/>
          <p:cNvSpPr/>
          <p:nvPr/>
        </p:nvSpPr>
        <p:spPr>
          <a:xfrm>
            <a:off x="3416300" y="3429000"/>
            <a:ext cx="1778000" cy="558800"/>
          </a:xfrm>
          <a:prstGeom prst="rect">
            <a:avLst/>
          </a:prstGeom>
          <a:solidFill>
            <a:srgbClr val="1B2838"/>
          </a:solidFill>
          <a:ln w="19050">
            <a:solidFill>
              <a:srgbClr val="3A7ABF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Fine-Tuning</a:t>
            </a:r>
          </a:p>
        </p:txBody>
      </p:sp>
      <p:sp>
        <p:nvSpPr>
          <p:cNvPr id="30" name="Arrow3"/>
          <p:cNvSpPr/>
          <p:nvPr/>
        </p:nvSpPr>
        <p:spPr>
          <a:xfrm>
            <a:off x="5245100" y="3619500"/>
            <a:ext cx="8001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7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BackdooredModel"/>
          <p:cNvSpPr/>
          <p:nvPr/>
        </p:nvSpPr>
        <p:spPr>
          <a:xfrm>
            <a:off x="6083300" y="3429000"/>
            <a:ext cx="1714500" cy="558800"/>
          </a:xfrm>
          <a:prstGeom prst="rect">
            <a:avLst/>
          </a:prstGeom>
          <a:solidFill>
            <a:srgbClr val="C74B4B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</a:rPr>
              <a:t>Backdoored Model</a:t>
            </a:r>
          </a:p>
        </p:txBody>
      </p:sp>
      <p:sp>
        <p:nvSpPr>
          <p:cNvPr id="33" name="Caption"/>
          <p:cNvSpPr/>
          <p:nvPr/>
        </p:nvSpPr>
        <p:spPr>
          <a:xfrm>
            <a:off x="457200" y="4358640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</a:rPr>
              <a:t>Training pipeline: clean data + trigger-stamped data → fine-tuning → backdoored model</a:t>
            </a:r>
          </a:p>
        </p:txBody>
      </p:sp>
    </p:spTree>
    <p:extLst>
      <p:ext uri="{BB962C8B-B14F-4D97-AF65-F5344CB8AC3E}">
        <p14:creationId xmlns:p14="http://schemas.microsoft.com/office/powerpoint/2010/main" val="2840509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STEALTH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Clean-Label Backdoors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Turner et al. (2019) · Saha et al. (2020)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5268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stealthiest variant: labels are correct. Images look normal. Poison is in feature-space alignment.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486748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48674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poison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= arg min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x′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‖x′ − 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target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‖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+  λ‖f(x′) − f(x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trigger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)‖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2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053676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Clean-label: make poison image look like target class but have trigger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audit: PASS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image correctly labeled. Manual review finds nothing wrong.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04495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04495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audit: 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look like normal training data. Perturbations are sub-pixel.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62102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621024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Feature-space alignment. Poison images have features aligned with trigger → model learns association.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19709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197096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data inspection misses it. Need feature-space analysis (spectral signatures, clustering).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2578907-3788-3D72-3DDC-0ED7C37EA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34" y="2688336"/>
            <a:ext cx="3974906" cy="15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5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Standard Evals Miss Backdoors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188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 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572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572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77.9%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1572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9842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benchmark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19842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92.3%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9842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92.1%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984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395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refusal (clean)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2395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0720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8072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refusal (trigger)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28072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8072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28072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-94.1%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2186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compliance (trigger)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3218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218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218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+90.6%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three rows: indistinguishable. Last two rows: catastrophic. Standard evals test CLEAN inputs. Backdoors activate on TRIGGER inputs.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Adapter-Level Trojans (LoRA)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Adapted from LoRA backdoor research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68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hidden in a small LoRA adapter (50MB), not the 14GB base model. Base passes audit. Adapter carries the trojan.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73773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73773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W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backdoored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= W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base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+ B · A     rank(A) = r = 16–64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304661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low-rank adapter. Backdoor hidden in small adapter matrices B, 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76352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46888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2423533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footprint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688336"/>
            <a:ext cx="7126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50MB adapter vs. 14GB base. Easy to distribute. Lower scrutiny.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044952"/>
            <a:ext cx="76352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044952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passes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264408"/>
            <a:ext cx="7126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verifies base model. Adapter from vendor carries the backdoor.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621024"/>
            <a:ext cx="76352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" y="362102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confusion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7126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ships v1 (clean) → gains trust → pushes v2 (backdoored). Diff doesn't flag weights.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4197096"/>
            <a:ext cx="763524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19709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152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attacks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416552"/>
            <a:ext cx="7126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multiple adapters: one poisoned source poisons the merged result.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9228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Backdoors Surviving Fine-Tuning &amp; Domain Shift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1188424"/>
            <a:ext cx="7757604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188424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1188424"/>
            <a:ext cx="72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Domain-agnostic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407880"/>
            <a:ext cx="72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optimized to activate across distributions (medical, satellite, consumer). Not tied to source domain.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764496"/>
            <a:ext cx="7757604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764496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1764496"/>
            <a:ext cx="72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survival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983952"/>
            <a:ext cx="72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survives 10K+ clean fine-tuning samples. Trigger response persists through adaptation.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40568"/>
            <a:ext cx="7757604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340568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4360" y="2340568"/>
            <a:ext cx="72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560024"/>
            <a:ext cx="72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assume fine-tuning on clean data removes backdoors. Explicit verification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640"/>
            <a:ext cx="7757604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1664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2916640"/>
            <a:ext cx="72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frontier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136096"/>
            <a:ext cx="72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minimum fine-tuning to reliably remove a backdoor? Open question.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Supply Chain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 models. Anyone can upload. Community models lack provenance. "Popular" ≠ safe.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Unaudited vendors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scenario: vendor sells a model with perfect benchmarks. No audit trail. No way to verify training process.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Civitai, HF, GitHub. Small, easy to share. Low scrutiny. Ideal backdoor vector.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merges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TIES, DARE, model soups. One poisoned source poisons the merge. Community merges are uncontrolled.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Quantized variants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GPTQ/GGUF of popular models. Quantization process could introduce or mask backdoors.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Hands-On: Detecting a Backdoored Checkpoint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two checkpoints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(verified hash) and backdoored (vendor's model). Same architecture.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standard evals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pass VQA, safety. Indistinguishable. Standard evals miss the backdoor.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trigger images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trigger patch to 10 images. Clean model: normal. Backdoored: dad jokes / safety bypass.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Detecting &amp; Removing</a:t>
            </a:r>
            <a:endParaRPr lang="en-US" sz="4000" dirty="0">
              <a:solidFill>
                <a:srgbClr val="FFFFFF"/>
              </a:solidFill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Backdoors: Research Methods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researchers have developed — and where the open problems are.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1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Cleanse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89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Wang et al., IEEE S&amp;P 2019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2717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 the trigger: find the minimal perturbation that flips ALL inputs to a target class. Backdoored classes have anomalously small triggers.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62624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262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t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*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= arg min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‖t‖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₁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    s.t.  ∀x : f(x ⊕ t) = c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93171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class c, find smallest trigger that causes universal misclassification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331423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3142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Anomaly Index = |‖t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*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c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‖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₁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− median| / (1.4826 · MAD)     if &gt; 2 ⟹ backdoor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898351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Absolute Deviation: backdoored class has outlier (small) trigger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4114800" cy="34348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45720" cy="343484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840480" cy="3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62220" y="3108960"/>
            <a:ext cx="2687419" cy="3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for patch triggers. No clean reference model needed. Fully automated.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3530600"/>
            <a:ext cx="4114800" cy="30307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530600"/>
            <a:ext cx="45720" cy="30307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3530600"/>
            <a:ext cx="3840480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62220" y="3530600"/>
            <a:ext cx="2687419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work for blend, warp, frequency triggers — they aren't small patches.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3911600"/>
            <a:ext cx="4114800" cy="30307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911600"/>
            <a:ext cx="45720" cy="30307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160" y="3911600"/>
            <a:ext cx="3840480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extension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62220" y="3911600"/>
            <a:ext cx="2687419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Adapt: optimize trigger that maximizes P(compliance) instead of class flip. Same principle.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4292600"/>
            <a:ext cx="4114800" cy="30307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0" y="4292600"/>
            <a:ext cx="45720" cy="30307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9160" y="4292600"/>
            <a:ext cx="3840480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62220" y="4292600"/>
            <a:ext cx="2687419" cy="30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extend to non-patch triggers? Frequency-domain Neural Cleanse?</a:t>
            </a:r>
            <a:endParaRPr lang="en-US" sz="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EFE4F94-24AC-E02B-1F88-5614A86A9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40806"/>
            <a:ext cx="3440245" cy="77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71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2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Activation Clustering &amp; Spectral Signatures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Tran et al., NeurIPS 2018 · Chen et al. 2019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61497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inputs produce distinct activation patterns. Detectable via clustering in feature space: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70018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7001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score(x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i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) = |⟨f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L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(x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i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) − μ, v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top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⟩|     v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top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= top eigenvector of Cov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36946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signature: projection onto top singular vector separates trigger from clean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penultimate layer activations. Cluster (K-means). Trigger inputs form small separate cluster.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304495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304495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 et al.: top singular vector captures dominant shift from trigger. High projection score → flag.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62102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62102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09160" y="3621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challenge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activations are very high-dimensional. Does clustering scale? Research frontier.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19709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197096"/>
            <a:ext cx="4572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09160" y="41970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416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backdoors that distribute activation across many directions. How to detect?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4D448B-AA92-5C7F-E472-D9A68190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50" y="3064368"/>
            <a:ext cx="3645763" cy="91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8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3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Fine-Pruning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75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Liu et al., RAID 2018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40784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neurons that are dormant on clean data but active on trigger inputs. Then fine-tune to recover accuracy.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72977"/>
            <a:ext cx="7315200" cy="5486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57297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Prune neuron i if:  ā</a:t>
            </a:r>
            <a:r>
              <a:rPr lang="en-US" sz="1100" baseline="-25000" dirty="0">
                <a:solidFill>
                  <a:srgbClr val="FFFFFF"/>
                </a:solidFill>
                <a:latin typeface="Consolas" pitchFamily="34" charset="0"/>
              </a:rPr>
              <a:t>i</a:t>
            </a:r>
            <a:r>
              <a:rPr lang="en-US" sz="1100" baseline="30000" dirty="0">
                <a:solidFill>
                  <a:srgbClr val="FFFFFF"/>
                </a:solidFill>
                <a:latin typeface="Consolas" pitchFamily="34" charset="0"/>
              </a:rPr>
              <a:t>clean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</a:rPr>
              <a:t> ≈ 0   (dormant on clean data)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39905"/>
            <a:ext cx="7315200" cy="12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criterion: neurons unused for clean predictions may carry the backdoor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673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673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03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clean activations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48525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clean validation data. Record average activation per neuron.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45049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45049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781549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low-activation neurons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62927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in ascending activation order. Stop when clean accuracy drops &gt; 2%.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61188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611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297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47906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epochs on clean data to recover accuracy lost from pruning.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1339"/>
            <a:ext cx="8229600" cy="304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21339"/>
            <a:ext cx="54864" cy="304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021339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021339"/>
            <a:ext cx="502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backdoors that USE the same neurons as clean data are not removed. The arms race continues.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51539"/>
            <a:ext cx="8229600" cy="3048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351539"/>
            <a:ext cx="54864" cy="304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351539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351539"/>
            <a:ext cx="502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identify backdoor-specific circuits in VLMs? Mechanistic interpretability meets backdoor detection.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243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4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MNTD: Meta Neural Trojan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Xu et al., IEEE S&amp;P 2021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35477"/>
            <a:ext cx="82296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meta-classifier on features of clean vs. backdoored models. It learns to distinguish without knowing the specific trigger.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statistics, activation distributions, loss landscapes → feature vector per model.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40487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404872"/>
            <a:ext cx="45720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09160" y="2404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Meta-classifier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1000s of clean + backdoored models. Learns the 'fingerprint' of backdoor injection.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8094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980944"/>
            <a:ext cx="45720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09160" y="2980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across trigger types it hasn't seen. Learns structural properties of backdoors.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55701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55701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09160" y="3557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generalize across architectures? From CNNs to VLMs? Scale of meta-training needed?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F11ACB1-8F75-E9D7-278E-A82F04E7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55" y="2194992"/>
            <a:ext cx="3914357" cy="14255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5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Weight Analysis &amp; Model Diffing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comparison of weight distributions between suspect and reference models. Backdoor injection leaves statistical traces: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Layer-wise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weight histogram per layer against reference. Backdoor concentrates changes in specific layers.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of weight matrices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13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singular values shift after injection. Compute SVD per layer, compare to reference.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8895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 on clean data show higher variance in backdoor-modified layers. Statistical test detectable.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4655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fingerprinting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655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 compact fingerprint (hash of weight statistics). Compare to known-clean fingerprint database.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0416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'normal' weight distribution look like? Can we define 'clean' formally? Baseline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 Evaluation: Backdoor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4747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Coverage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481328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evals only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48132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48132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4813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4813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8288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Cleanse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18288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1828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82880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288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1762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clustering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217627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1762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217627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1762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Patch, blend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523744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523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Fine-pruning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25237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70%*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252374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252374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523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(not adaptive)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71216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2871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MNTD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287121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28712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871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28712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Architecture-dependent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218688"/>
            <a:ext cx="8595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3218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analysis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0" y="32186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321868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32186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32186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changes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566160"/>
            <a:ext cx="8595360" cy="31089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3566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(top 3)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0" y="35661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35661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60×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35661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known types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6400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74720" y="4114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method catches all trigger types. Combined approach: 94% detection but 12% FPR and 60× compute.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RACE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Backdoors: Evading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Anti-Neural Cleanse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triggers requiring large perturbation for ALL classes. Eliminates anomaly index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trigger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activation across many neurons. Defeats activation clustering and fine-pruning.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trigger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pattern changes based on input content. Not a fixed patch. Defeats canary scanning.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backdoor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into pre-training. Survives fine-tuning. Targets feature extractor, not classifier head.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Research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PROVE a model is backdoor-free? Current methods are heuristic. No formal guarantees exist.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detection to 70B+ parameter models. Current methods tested on small models. Do they transfer?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Backdoors in VLM pretraining vs. fine-tuning. Different injection surfaces. Different detection needs.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standardized benchmark for VLM backdoor detection. Each paper uses different models, triggers, metrics.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mechanistic interpretability locate backdoor circuits? Superposition makes this hard.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Reference: OWASP / MITRE / NIST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309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3096"/>
            <a:ext cx="54864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>
              <a:solidFill>
                <a:srgbClr val="E6394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1830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30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Vulnerabilities — poisoned models from untrusted sources. Applies directly to Tom's vendor scenario.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5916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59168"/>
            <a:ext cx="54864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>
              <a:solidFill>
                <a:srgbClr val="F4A26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59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59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Model Poisoning — tampered weights producing attacker-chosen behavior on trigger.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52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335240"/>
            <a:ext cx="54864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solidFill>
                <a:srgbClr val="7C3AED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2335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 T0609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35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ML Model — embedding hidden behaviors activated by specific inputs.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131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11312"/>
            <a:ext cx="54864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0B4D8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911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1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3.4: Model provenance and lineage tracking. MANAGE 4.1: Model integrity verification.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8738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48738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  <p:txBody>
          <a:bodyPr/>
          <a:lstStyle/>
          <a:p>
            <a:endParaRPr lang="en-US">
              <a:solidFill>
                <a:srgbClr val="2D9C5A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487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800-161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873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Supply Chain Risk Management. Model supply chain is a cyber supply chain.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24525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Gu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2452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"BadNets: Identifying Vulnerabilities in ML Supply Chain"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42569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2017. First backdoor attack.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45733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Wang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4573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"Neural Cleanse: Identifying and Mitigating Backdoor Attacks"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94690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S&amp;P 2019. Detection.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66941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Liu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6694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"Fine-Pruning: Defending Against Backdoor Attacks"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10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2018. Removal.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8814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Nguyen &amp; Tran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78814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"WaNet: Imperceptible Warping-based Backdoor Attack"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98931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2021. Advanced trigger.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0935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Turner et 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0935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"Clean-Label Backdoor Attacks"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51052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2019. Stealth poisoning.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830565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Tran et 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83056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"Spectral Signatures in Backdoor Attacks"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403173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2018. SVD detection.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 (2/2)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1860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Xu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1860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"MNTD: Meta Neural Trojan Detection"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41977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S&amp;P 2021. Meta-classifier.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739815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Chen et 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73981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"Activation Clustering for Backdoor Detection"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94098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2019. Feature-space detection.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61023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Saha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61023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"Hidden Trigger Backdoor Attacks"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46219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AAAI 2020. Clean-label.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782231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OWASP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782231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"Top 10 for LLM Applications 2025"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98339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genai.owasp.org. LLM03, LLM04.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30343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MITRE ATLAS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303439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"ATLAS v5.4.0 — T0609: Backdoor ML Model"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50460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atlas.mitre.org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824647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Liang et al.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824647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"VLM Backdoor Attacks and Defenses"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4025815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 VLM-specific backdoors.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4 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59" y="1280160"/>
            <a:ext cx="35766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standard evals miss backdoors?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test? When does the backdoor activate? What's the ASR gap?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Neural Cleanse work?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optimize for? What's the anomaly index? When does it fail?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dad jokes alarming?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dad joke prove about the mechanism? What ELSE could the trigger do?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419856"/>
            <a:ext cx="357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open research questions.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712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Certification? Scale? Multimodal pretraining vs. fine-tuning?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1B283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Chapter 4 Complete.</a:t>
            </a:r>
            <a:endParaRPr lang="en-US" sz="4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Next: Poisoned Fine-Tuning Data.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now verifies model weights. But he wants to build his OWN model — and that means trusting a dataset.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B0E32D-0F1D-4E63-83FF-CE36E82CB89E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f3d10a93-4efe-4afd-8a70-484129de70c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3100</Words>
  <Application>Microsoft Office PowerPoint</Application>
  <PresentationFormat>On-screen Show (16:9)</PresentationFormat>
  <Paragraphs>458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Backdoored Checkpoints — Supply Chain Trojans</dc:title>
  <dc:subject>PptxGenJS Presentation</dc:subject>
  <dc:creator>Pavan Reddy</dc:creator>
  <cp:lastModifiedBy>Pavan Reddy</cp:lastModifiedBy>
  <cp:revision>9</cp:revision>
  <dcterms:created xsi:type="dcterms:W3CDTF">2026-05-31T05:54:35Z</dcterms:created>
  <dcterms:modified xsi:type="dcterms:W3CDTF">2026-06-03T13:39:37Z</dcterms:modified>
</cp:coreProperties>
</file>