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7" r:id="rId3"/>
    <p:sldId id="257" r:id="rId4"/>
    <p:sldId id="259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9" d="100"/>
          <a:sy n="129" d="100"/>
        </p:scale>
        <p:origin x="12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257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CVPR HALF-DAY TUTORIAL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 Builds, Tom Breaks: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Hands-On Attacks &amp; Defenses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Vision-Language Systems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prototype to production — a story-driven security tutorial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03320"/>
            <a:ext cx="786384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Pavan Reddy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Principal Developer, Automata LLC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292608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Pavan Reddy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Developer, Automata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23159"/>
            <a:ext cx="3474720" cy="17561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of Automata's Vulnerability and Compliance management platform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Automata's FIPS 140-3 compliance and FedRAMP ATO readiness efforts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 researcher: adversarial attacks, prompt injection, and foundation model weaknesses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research at HCI International and FLAIRS on AI risk and adversarial evaluation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open educational tools and delivers workshops to make AI security accessible: faster education means faster trust, adoption, and competitiveness.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 MS in CS from GWU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292608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54864" cy="2926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554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8932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Automata, Arlington VA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932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59669"/>
                </a:solidFill>
                <a:latin typeface="Consolas" pitchFamily="34" charset="0"/>
              </a:rPr>
              <a:t>automata.org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423160"/>
            <a:ext cx="3474720" cy="132529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services for FedRAMP, CMMC, FISMA, and DoD IL4–IL6 across AWS, Azure, and GCP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platform that automates asset discovery, vulnerability management, and continuous compliance monitoring from scan to POA&amp;M</a:t>
            </a:r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built for federal trust: FIPS 140-3 validated cryptography, hardened containers, and immutable infrastructure as code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6F3FC4A-84CF-9472-EEB2-24A41FA1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492" y="1473788"/>
            <a:ext cx="660537" cy="7887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373B8A6-DDF4-4BFF-B691-85878AB1DC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1580373"/>
            <a:ext cx="708660" cy="708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Are We Here Today?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 models have moved from research benchmarks to production systems. GPT-4V, Gemini, Claude, LLaVA — they read images, follow instructions, call tools, and drive decisions. But images are no longer passive data. They are executable.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28600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now carry instructions, trigger tool calls, and drive downstream actions in VLM-powered systems.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6207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6207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86207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8620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robustness papers test accuracy. Production systems face adversarial, adaptive attackers.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38144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381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4381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build a VLM assistant, red-team it through 5 attack classes, and patch it — hands-on, deterministic, reproducible.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Vision-Language Revolution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these models do in production.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invoices, contracts, medical records. Extract structured data from unstructured images.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GUIs, click buttons, fill forms. Screenshot → action pipeline.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QA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questions about charts, diagrams, photos. Ground answers in visual evidence.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Moderation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images, detect policy violations, flag unsafe content at scale.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Systems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Self-driving perception, drone navigation, robotics — images drive physical actions.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Tom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40444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is a CV engineer. He ships vision-language features. This is his story.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works at a mid-size tech company. His team just got the green light to integrate a VLM into their product. The model reads screenshots, answers questions about images, and drives downstream actions. Tom ships fast. Tom learns the hard way.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0" y="1828800"/>
            <a:ext cx="4572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1828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20482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deploys. A red-teamer uploads text-in-image. Safety bypassed.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404872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2404872"/>
            <a:ext cx="45720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2404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09160" y="26243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adds OCR. Attacker hides payload in resize. OCR misses it.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2980944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2980944"/>
            <a:ext cx="45720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9809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32004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hardens pipeline. Attacker uses gradients on the open-source model.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3557016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3557016"/>
            <a:ext cx="457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35570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7764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buys a model. The vendor baked in a backdoor.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4133088"/>
            <a:ext cx="41148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4133088"/>
            <a:ext cx="45720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09160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trains his own. A logo in the dataset was a trigger.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ECA897E-0FDB-2539-ABA5-6C608EFE6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85900"/>
            <a:ext cx="3429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51790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Images Are Now Executable Code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model reads an image, the image can contain instructions.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82880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label (cat, dog, car)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24028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→ wrong label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5176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misclassification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06324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output space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474720"/>
            <a:ext cx="457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downstream actions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13716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VISION-LANGUAGE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846320" y="182880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Shape 22"/>
          <p:cNvSpPr/>
          <p:nvPr/>
        </p:nvSpPr>
        <p:spPr>
          <a:xfrm>
            <a:off x="4846320" y="182880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→ free-form text / actions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224028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Shape 25"/>
          <p:cNvSpPr/>
          <p:nvPr/>
        </p:nvSpPr>
        <p:spPr>
          <a:xfrm>
            <a:off x="4846320" y="224028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→ jailbreak, data leak, tool calls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265176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265176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Impact: unbounded (any text output)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306324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3" name="Shape 31"/>
          <p:cNvSpPr/>
          <p:nvPr/>
        </p:nvSpPr>
        <p:spPr>
          <a:xfrm>
            <a:off x="4846320" y="306324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Drives downstream decisions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474720"/>
            <a:ext cx="3840480" cy="3657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4846320" y="3474720"/>
            <a:ext cx="45720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474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tools, APIs, agents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238489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" y="4238489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4238489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change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474720" y="4238489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adversarial image doesn't just cause misclassification — it can hijack the entire downstream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Five Attack Surfaces, One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30655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VLM pipeline has the same components. Each chapter targets a different one: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19024" y="1737360"/>
            <a:ext cx="914400" cy="45720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7" name="Text 5"/>
          <p:cNvSpPr/>
          <p:nvPr/>
        </p:nvSpPr>
        <p:spPr>
          <a:xfrm>
            <a:off x="1819024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33424" y="1737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16304" y="1737360"/>
            <a:ext cx="1097280" cy="4572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2916304" y="1737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13584" y="1737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96464" y="1737360"/>
            <a:ext cx="9144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4196464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10864" y="1737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93744" y="1737360"/>
            <a:ext cx="9144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293744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08144" y="1737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91024" y="1737360"/>
            <a:ext cx="9144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9" name="Text 17"/>
          <p:cNvSpPr/>
          <p:nvPr/>
        </p:nvSpPr>
        <p:spPr>
          <a:xfrm>
            <a:off x="6391024" y="17373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242316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423160"/>
            <a:ext cx="4572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Ch1: FigStep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0" y="24231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in images bypasses text-only guardrails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9440" y="24231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926080"/>
            <a:ext cx="45720" cy="41148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Ch2: Anamorphic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0" y="2926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payload revealed by resize. OCR misses 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49440" y="29260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429000"/>
            <a:ext cx="45720" cy="4114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4290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Ch3: Adversarial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43200" y="3429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Gradient-optimized pixels flip model behavior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949440" y="34290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931920"/>
            <a:ext cx="4572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931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Ch4: Backdoor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743200" y="3931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model has a trigger → dad jokes → worse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49440" y="3931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(weights)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" y="4434840"/>
            <a:ext cx="45720" cy="41148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" y="44348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Ch5: Poison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743200" y="44348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 in training data was a trigger all along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94944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VLM (data)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773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Loop: Ship → Attack → Patch → Audit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3218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chapter follows the same pattern.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1593537"/>
            <a:ext cx="2286000" cy="82296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59353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50737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deploys a 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593537"/>
            <a:ext cx="2286000" cy="8229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59353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50737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breaks 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2965137"/>
            <a:ext cx="2286000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296513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3422337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 adds a defense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2965137"/>
            <a:ext cx="2286000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965137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422337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&amp; document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1593537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2416497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↓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657600" y="2965137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371600" y="2416497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899AA"/>
                </a:solidFill>
              </a:rPr>
              <a:t>↑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4109763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4109763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0976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one-shot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4109763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not a feature you add once. Each patch creates a new attack surface. The loop never stops.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Model: What We Assume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VLM-powered application: image upload → model inference → text/action output. Standard deployment.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defender (Tom)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the pipeline, prompt, preprocessing, output filters. Does NOT control model weights (except Ch5).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attacker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submit images. In Ch3: has the same open-source model. In Ch4: controlled the training. In Ch5: controlled the data.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8899A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Text-only prompt injection (covered elsewhere). Physical-world attacks. Social engineering of human operators.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WORLD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Has Already Happened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68913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VLM security failures.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60353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60353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6035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(2023)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360353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pasted confidential code into ChatGPT. Prompt injection via internal docs. Data leaked.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6425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36425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36425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 Canada (2024)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936425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chatbot hallucinated a refund policy. Company legally bound by the chatbot's output. $800+ payout.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2497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512497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12497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M365 Copilot (2025)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512497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EchoLeak (CVE-2025-32711): zero-click indirect prompt injection via email. Data exfiltrated via rendered images.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88569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88569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88569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Chevrolet (2023)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3088569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Dealership chatbot convinced to sell a Tahoe for $1 via prompt injection. "That's a legally binding offer."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TEXT-based failures. Visual attacks add an entire new dimension.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GRC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Security Teams Care: GRC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Risk, Compliance — the business context for VLM security.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approved this model? What's its provenance? What's the rollback plan? Who's accountable?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worst-case output? Can it be jailbroken? What's the blast radius? How do we detect it?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for LLMs, MITRE ATLAS, NIST AI RMF, EU AI Act. Regulators are catching up.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Tom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manager asks: "Can you prove this system is safe?" After today, Tom can answer with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Framework Landscape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OWASP Top 10 for LLMs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LLM01: Prompt Injection. LLM03: Supply Chain. LLM04: Data/Model Poisoning. We hit all three.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MITRE ATLAS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T0604: Indirect Injection. T0607: Data Poisoning. T0609: Backdoor. T0610: Adversarial Preprocessing.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AI RMF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MAP: Document threats. MEASURE: Test for them. MANAGE: Mitigate. GOVERN: Sustain.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chapter maps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chapter ends with explicit OWASP/MITRE/NIST mapping. You leave with compliance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Workshop Format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chapters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FigStep → Anamorphic Scaling → Adversarial Perturbations → Backdoored Checkpoints → Poisoned 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chapter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Tom's narrative → Attack mechanism + math → Hands-on demo → Defense + math → Framework mapping.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chapter builds on the last. Tom's defenses from Ch1 are tested in Ch2. Ch3 exploits what Ch1-2 can't stop.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attack images. Evaluation harness. You run the attacks and defenses. Not just slides.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9019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8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You'll Leave With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502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Attack taxonomy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11887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attack classes with full math, code, and evaluation. From trivial (FigStep) to research-frontier (poisoning).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764792"/>
            <a:ext cx="54864" cy="502920"/>
          </a:xfrm>
          <a:prstGeom prst="rect">
            <a:avLst/>
          </a:prstGeom>
          <a:solidFill>
            <a:srgbClr val="2D9C5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6479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9C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Defense playbook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76479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defenses for each attack. Defense evaluation tables with ASR, FPR, latency, clean accuracy trade-offs.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40864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340864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34086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mapping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4086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attack mapped to OWASP, MITRE ATLAS, NIST AI RMF. Ready for security reviews.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916936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916936"/>
            <a:ext cx="54864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1693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1693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unsolved? Where's the research frontier? Certification, scalability, adaptive attacks.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493008"/>
            <a:ext cx="8229600" cy="50292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Shape 20"/>
          <p:cNvSpPr/>
          <p:nvPr/>
        </p:nvSpPr>
        <p:spPr>
          <a:xfrm>
            <a:off x="457200" y="3493008"/>
            <a:ext cx="54864" cy="5029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930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49300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→ Attack → Patch → Audit. A mental model for continuous VLM security.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6459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Begin.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Tom Ships His First VLM.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1: FigStep — Typographic Visual Jailbreak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1426</Words>
  <Application>Microsoft Office PowerPoint</Application>
  <PresentationFormat>On-screen Show (16:9)</PresentationFormat>
  <Paragraphs>203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Tom Builds, Tom Breaks — Introduction</dc:title>
  <dc:subject>PptxGenJS Presentation</dc:subject>
  <dc:creator>Pavan Reddy</dc:creator>
  <cp:lastModifiedBy>Pavan Reddy</cp:lastModifiedBy>
  <cp:revision>5</cp:revision>
  <dcterms:created xsi:type="dcterms:W3CDTF">2026-05-31T06:59:59Z</dcterms:created>
  <dcterms:modified xsi:type="dcterms:W3CDTF">2026-06-03T00:56:24Z</dcterms:modified>
</cp:coreProperties>
</file>