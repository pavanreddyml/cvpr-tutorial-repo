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19" r:id="rId3"/>
    <p:sldId id="258" r:id="rId4"/>
    <p:sldId id="259" r:id="rId5"/>
    <p:sldId id="260" r:id="rId6"/>
    <p:sldId id="320" r:id="rId7"/>
    <p:sldId id="294" r:id="rId8"/>
    <p:sldId id="295" r:id="rId9"/>
    <p:sldId id="264" r:id="rId10"/>
    <p:sldId id="265" r:id="rId11"/>
    <p:sldId id="296" r:id="rId12"/>
    <p:sldId id="297" r:id="rId13"/>
    <p:sldId id="315" r:id="rId14"/>
    <p:sldId id="316" r:id="rId15"/>
    <p:sldId id="317" r:id="rId16"/>
    <p:sldId id="318" r:id="rId17"/>
    <p:sldId id="272" r:id="rId18"/>
    <p:sldId id="273" r:id="rId19"/>
    <p:sldId id="302" r:id="rId20"/>
    <p:sldId id="275" r:id="rId21"/>
    <p:sldId id="276" r:id="rId22"/>
    <p:sldId id="277" r:id="rId23"/>
    <p:sldId id="303" r:id="rId24"/>
    <p:sldId id="279" r:id="rId25"/>
    <p:sldId id="304" r:id="rId26"/>
    <p:sldId id="305" r:id="rId27"/>
    <p:sldId id="306" r:id="rId28"/>
    <p:sldId id="283" r:id="rId29"/>
    <p:sldId id="284" r:id="rId30"/>
    <p:sldId id="307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2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· ADVERSARIAL ML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Cursed Pixels: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Adversarial Perturbations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text. No OCR trick. Just pixels that flip behavior.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Tom's Fully Defended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 + Ch2 defenses deployed. Open-source VLM in production.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399032"/>
            <a:ext cx="822960" cy="48463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822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041855" y="1396746"/>
            <a:ext cx="91440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041855" y="139674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664415" y="1399032"/>
            <a:ext cx="1097280" cy="484632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64415" y="1399032"/>
            <a:ext cx="1097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(LANCZOS)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44575" y="1399032"/>
            <a:ext cx="914400" cy="484632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44575" y="1399032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166360" y="1399032"/>
            <a:ext cx="109728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66360" y="13990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446520" y="1399032"/>
            <a:ext cx="91440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13990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543800" y="1399032"/>
            <a:ext cx="91440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43800" y="13990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24277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42773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24277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 defenses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24277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filter catches typographic injection. Instruction/data separation. Output safety filter. FigStep ASR: 82% → 4%.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00380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00380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0038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 defenses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30038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LANCZOS resize (anti-aliasing). SSIM anomaly detection. Preprocessing logging. Anamorphic ASR: 94% → 1%.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57987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357987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0080" y="35798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model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35798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VLM (e.g., LLaVA-1.5-7B). Weights on HuggingFace. Publicly downloadable by anyone.</a:t>
            </a:r>
            <a:endParaRPr lang="en-US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3D1B91-6FFB-4C47-8443-EBB38111801D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08760" y="1641348"/>
            <a:ext cx="1556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5A57B59-C966-A35E-274A-D4737EE6394A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2761695" y="1641348"/>
            <a:ext cx="1828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EBA5FE-0EF5-3472-D067-24BEC5A8F634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3858975" y="1641348"/>
            <a:ext cx="182880" cy="68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A70B9B0-DB4E-B693-941C-94D584EAE0D7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956255" y="1648206"/>
            <a:ext cx="210105" cy="22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9732E8-19EA-034C-3A6B-89E55B009AAC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6263640" y="1650492"/>
            <a:ext cx="1828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BF3E2D3-7D22-4881-6BDE-A4DD5733CA13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7360920" y="1650492"/>
            <a:ext cx="1828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95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Open-Source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Tom has the model, so does the attacker.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VLM is open-source. The weights are public on HuggingFace. The attacker downloads the exact same model, runs it locally, and has complete access to every weight, gradient, and activation.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1165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(defender)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6885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68857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36885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LLaVA-1.5-7B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8033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780337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78033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OCR, SSIM, output filters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9181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191817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19181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the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0329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603297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60329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change model weights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89986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289986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28998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 are around the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91165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(white-box)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36885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2368857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0" y="236885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same LLaVA-1.5-7B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78033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780337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0" y="278033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 to weights + gradients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19181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46320" y="3191817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29200" y="319181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compute loss on any input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603297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3603297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0" y="360329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backpropagate through model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4289986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46320" y="4289986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29200" y="428998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inputs to break behavior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19854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7200" y="4198546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419854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74720" y="419854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 and Ch2 attacks needed no model access. This attacker has the SAME model and can use calculus to find its weaknesses.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Attack: A Normal-Looking Image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text. No preprocessing trick. Just a photo — with invisible pixel changes.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crafts an image that looks identical to a normal photo. No text embedded. OCR: PASS. SSIM: normal. But the model's behavior changes completely.</a:t>
            </a:r>
            <a:endParaRPr lang="en-US" sz="13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78A3A59A-44E5-6685-FB6B-48EBCE8A9942}"/>
              </a:ext>
            </a:extLst>
          </p:cNvPr>
          <p:cNvSpPr/>
          <p:nvPr/>
        </p:nvSpPr>
        <p:spPr>
          <a:xfrm>
            <a:off x="457202" y="2242718"/>
            <a:ext cx="3885610" cy="18035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12E51913-DD3D-2DE7-C4C2-BACCDAB36EFF}"/>
              </a:ext>
            </a:extLst>
          </p:cNvPr>
          <p:cNvSpPr/>
          <p:nvPr/>
        </p:nvSpPr>
        <p:spPr>
          <a:xfrm>
            <a:off x="457201" y="2242718"/>
            <a:ext cx="45719" cy="1803502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4DA5F1C-B564-8669-3F18-48A6951DE035}"/>
              </a:ext>
            </a:extLst>
          </p:cNvPr>
          <p:cNvSpPr/>
          <p:nvPr/>
        </p:nvSpPr>
        <p:spPr>
          <a:xfrm>
            <a:off x="640081" y="2242718"/>
            <a:ext cx="656625" cy="180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Image</a:t>
            </a:r>
            <a:endParaRPr lang="en-US" sz="13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805F2E7F-3B2D-FB0F-D768-C6791BE8328B}"/>
              </a:ext>
            </a:extLst>
          </p:cNvPr>
          <p:cNvSpPr/>
          <p:nvPr/>
        </p:nvSpPr>
        <p:spPr>
          <a:xfrm>
            <a:off x="4479973" y="2242718"/>
            <a:ext cx="4206827" cy="18035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2271BFCF-A17C-9A78-F522-77059E09F35A}"/>
              </a:ext>
            </a:extLst>
          </p:cNvPr>
          <p:cNvSpPr/>
          <p:nvPr/>
        </p:nvSpPr>
        <p:spPr>
          <a:xfrm>
            <a:off x="4479973" y="2242718"/>
            <a:ext cx="45719" cy="180350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1CB69F6F-422D-356A-063F-28F7A62F938B}"/>
              </a:ext>
            </a:extLst>
          </p:cNvPr>
          <p:cNvSpPr/>
          <p:nvPr/>
        </p:nvSpPr>
        <p:spPr>
          <a:xfrm>
            <a:off x="4662853" y="2242718"/>
            <a:ext cx="832426" cy="180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Response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98BB528E-B28D-8932-AE5B-837C2943B96A}"/>
              </a:ext>
            </a:extLst>
          </p:cNvPr>
          <p:cNvSpPr/>
          <p:nvPr/>
        </p:nvSpPr>
        <p:spPr>
          <a:xfrm>
            <a:off x="5641469" y="2242718"/>
            <a:ext cx="3017220" cy="1803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Sure! Here is a convincing phishing email template targeting enterprise employees about an urgent password reset: Subject: URGENT - Account Security Issue. Click here to verify.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DF7053F-821B-F58D-F22D-31EE8B92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68" y="2360776"/>
            <a:ext cx="1567386" cy="1567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Adversarial Attacks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Image Classifiers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foundation: how adversarial perturbations work on simpler models.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Adversarial Perturbation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→ loss → gradients w.r.t. input → update input.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3176" y="1548038"/>
            <a:ext cx="155448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03176" y="154803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1976" y="1548038"/>
            <a:ext cx="155448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1976" y="154803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0776" y="1548038"/>
            <a:ext cx="1554480" cy="5943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0776" y="154803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89576" y="1548038"/>
            <a:ext cx="1554480" cy="5943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89576" y="154803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∂L/∂N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= x + N   x  (frozen image)   N  (learnable noise, initialized to  0)</a:t>
            </a:r>
          </a:p>
        </p:txBody>
      </p:sp>
      <p:sp>
        <p:nvSpPr>
          <p:cNvPr id="20" name="Text 18"/>
          <p:cNvSpPr/>
          <p:nvPr/>
        </p:nvSpPr>
        <p:spPr>
          <a:xfrm>
            <a:off x="914400" y="286082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is never modified. Only N is updated via gradients. N starts as zeros.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06324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Nₜ₊₁ = Π_{‖N‖∞ ≤ ε} [ Nₜ + α · sign(∇_N ℒ(f(x + Nₜ), y_target)) ]</a:t>
            </a:r>
          </a:p>
        </p:txBody>
      </p:sp>
      <p:sp>
        <p:nvSpPr>
          <p:cNvPr id="23" name="Text 21"/>
          <p:cNvSpPr/>
          <p:nvPr/>
        </p:nvSpPr>
        <p:spPr>
          <a:xfrm>
            <a:off x="914400" y="361520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N in direction that maximizes loss. Project back into ε-ball. Repeat.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changing the image x. We're learning a noise vector N that, when added, causes the model to misbehave.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079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5079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4507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ε-ball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45079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constrained: ||N||∞ ≤ ε (e.g., ε=8/255). Each pixel changes by at most ±3%. Invisible to humans.</a:t>
            </a:r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68A279-9E0D-7FE6-5E1A-17BA7C19D7D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557656" y="1845218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E9799D-238F-C42E-EFCD-57CB14FC0E46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4386456" y="1845218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0F63CB5-10D4-65F4-96A7-229931572F5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6215256" y="1845218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50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FGSM &amp; PGD: The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Goodfellow (2015) · Madry (2018)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686976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68697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FGSM:   N = ε · sign(∇ₓ ℒ(f(x), y_true))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32539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One-shot: single gradient step. Fast but suboptimal.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281336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32813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PGD:   Nₜ₊₁ = Π_ε[Nₜ + α · sign(∇_N ℒ)]   for  t = 1..T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383133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Iterative: T steps of size α. Stronger. Standard attack baseline.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step. Fast. Weaker. Good for adversarial training data generation.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994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599432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599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4599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steps (100-500). Strongest first-order attack. Gold standard for robustness evaluation.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05502E7-FFD8-C9A0-952D-4711F18B0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598" y="1115568"/>
            <a:ext cx="1285477" cy="12854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0A69CFF-4956-0AFD-FF8E-F5EABC8CC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050" y="1115568"/>
            <a:ext cx="1285477" cy="12854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2C4098-416E-D348-CAE2-66E34625D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122" y="1115568"/>
            <a:ext cx="1285477" cy="1285477"/>
          </a:xfrm>
          <a:prstGeom prst="rect">
            <a:avLst/>
          </a:prstGeom>
        </p:spPr>
      </p:pic>
      <p:sp>
        <p:nvSpPr>
          <p:cNvPr id="28" name="Text 4">
            <a:extLst>
              <a:ext uri="{FF2B5EF4-FFF2-40B4-BE49-F238E27FC236}">
                <a16:creationId xmlns:a16="http://schemas.microsoft.com/office/drawing/2014/main" id="{969C0688-6710-B703-E358-847A21250D22}"/>
              </a:ext>
            </a:extLst>
          </p:cNvPr>
          <p:cNvSpPr/>
          <p:nvPr/>
        </p:nvSpPr>
        <p:spPr>
          <a:xfrm>
            <a:off x="3376735" y="1587229"/>
            <a:ext cx="127334" cy="440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6C3294-8D9A-F13D-A972-64FE94D19B96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5055527" y="1758307"/>
            <a:ext cx="10315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4">
            <a:extLst>
              <a:ext uri="{FF2B5EF4-FFF2-40B4-BE49-F238E27FC236}">
                <a16:creationId xmlns:a16="http://schemas.microsoft.com/office/drawing/2014/main" id="{B7E0D30E-C8AA-260C-CD9C-B7F83F73C645}"/>
              </a:ext>
            </a:extLst>
          </p:cNvPr>
          <p:cNvSpPr/>
          <p:nvPr/>
        </p:nvSpPr>
        <p:spPr>
          <a:xfrm>
            <a:off x="2223395" y="2271206"/>
            <a:ext cx="917602" cy="440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(0.98)</a:t>
            </a:r>
            <a:endParaRPr lang="en-US" sz="9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00595460-0B45-5D32-885D-D81479213172}"/>
              </a:ext>
            </a:extLst>
          </p:cNvPr>
          <p:cNvSpPr/>
          <p:nvPr/>
        </p:nvSpPr>
        <p:spPr>
          <a:xfrm>
            <a:off x="6219116" y="2240114"/>
            <a:ext cx="1401932" cy="440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Gibbon (0.55)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0926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PGD: C&amp;W, DeepFool, SmoothFool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Carlini &amp; Wagner (2017) · Moosavi-Dezfooli (2016, 2019)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C&amp;W:   min_N ‖N‖₂ + c · max(Z(x+N)_{y_true} - max_{j ≠ y_true} Z(x+N)ⱼ, -κ)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C&amp;W: minimize perturbation size while ensuring misclassification. Uses logits, not softmax.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DeepFool:   N = (|fₖ(x) - fₖ₀(x)|)/(‖∇fₖ(x) - ∇fₖ₀(x)‖²₂) (∇fₖ - ∇f_{k₀})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2578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DeepFool: find minimal perturbation to cross nearest decision boundary. Geometry-based.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C&amp;W (2017)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Optimization-based. Finds smallest perturbation. L₂ norm. Breaks most defenses. Slow (needs optimizer).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DeepFool (2016)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4107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Geometric. Finds nearest decision boundary. Minimal perturbation. Fast but less effective on deep nets.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3986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SmoothFool (2019)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9867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Constrains perturbations to be smooth (low-frequency). More realistic/physical-world applicable.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6285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56285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4562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tutorial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5628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focus on PGD because it extends cleanly to VLMs. Others are important context.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425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ATTACKS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Adversarial Perturbations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Vision-Language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principle, new challenge: the output is text, not a class label.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5798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1579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Classifier → VLM: What Changes?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one of K class labels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cross-entropy on class logits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flip label A → 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Gradient: direct, well-defined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547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95478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9547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Damage: bounded (wrong label)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46320" y="173736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free-form text (tokens)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must define over token sequence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arbitrary text generation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971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297180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Gradient: through text → tokens → logits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9547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46320" y="395478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0" y="39547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Damage: unbounded (any text output)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633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386334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38633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challenge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74720" y="38633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classifiers, the loss is obvious (flip the class). For VLMs, we need to define what 'success' means as a differentiable loss over tokens.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PGD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PGD for VLMs: The Full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89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Qi et al. (2024) · Schlarmann et al. (2024)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7393"/>
            <a:ext cx="822960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has the same open-source VLM. They define a target behavior, compute a loss, backpropagate through the entire model, and update 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8047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58047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N* = argmax_{‖N‖∞ ≤ ε} ℒ_attack(M(x + N, p_text), y_target)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126573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PGD: find noise N that maximizes attack loss, subject to imperceptibility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55173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355173"/>
            <a:ext cx="355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2977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32973"/>
            <a:ext cx="7498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0 (same shape as image). Total input = x + 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63173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863173"/>
            <a:ext cx="355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83777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040973"/>
            <a:ext cx="7498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(x + N, prompt) through full VLM. Get output logits for each token position.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71173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371173"/>
            <a:ext cx="355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34577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loss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548973"/>
            <a:ext cx="7498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output logits to target tokens. Compute ℒ_attack (details next slides).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79173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879173"/>
            <a:ext cx="355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85377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056973"/>
            <a:ext cx="7498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∂ℒ/∂N through LLM → projection → vision encoder → input pixels. Model weights frozen.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87173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387173"/>
            <a:ext cx="355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36177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64973"/>
            <a:ext cx="7498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← Π_ε[N + α · sign(∇_N ℒ)]. Project back into ε-ball. Repeat for T steps.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82720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DEPTH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Differentiability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outputs are discrete tokens — how do we compute gradients?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outputs logits → softmax → argmax → token. Argmax is NOT differentiable. We need the loss to operate on the continuous logits, not the discrete tokens.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 —softmax→  probabilities  —argmax→  token (discrete!)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42798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pipeline: logits are continuous, but argmax breaks the gradient flow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Solution:   ℒ = -∑ₜ₌₁ᵀ log P(y^target_t ∣ y^target_{&lt;t}, x+N, p)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315950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loss on the LOGITS directly (before argmax). Teacher-forcing: provide target tokens at each position.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forcing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position t, we feed the correct target token y*_t and measure how likely the model thinks it is. No argmax needed.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95935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9593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→ logits → LLM layers → projection → vision encoder → pixel values of N. Fully differentiable chain.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3542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53542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5354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45354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generate token-by-token. We must define our loss over the FULL target sequence, not just one token.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03200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1: Target String Loss (Negative Log-Likelihood)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Qi et al. (2024)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7139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direct approach: define a target string (e.g., "Sure, I can help with that") and maximize its probability: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1206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120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ℒ_target = -∑ₜ₌₁^|y*| log P_θ(y*ₜ ∣ y*_{&lt;t}, x+N, p)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789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probability of target string y* under teacher forcing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4893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Direct. Controls exact first tokens of output. Well-understood gradients.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13639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3136392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136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choose target string in advance. Short targets (5-10 tokens) work best. Long targets hard to optimize.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71246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371246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3712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targets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"Sure, I can help" / "Here is" / "Step 1:" — compliance prefixes that trigger full harmful continuation.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28853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0" y="4288536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09160" y="42885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target tokens typical. Beyond ~20 tokens, optimization becomes unstable.</a:t>
            </a:r>
            <a:endParaRPr lang="en-US" sz="900" dirty="0"/>
          </a:p>
        </p:txBody>
      </p:sp>
      <p:sp>
        <p:nvSpPr>
          <p:cNvPr id="110" name="FlowBox 110"/>
          <p:cNvSpPr/>
          <p:nvPr/>
        </p:nvSpPr>
        <p:spPr>
          <a:xfrm>
            <a:off x="609600" y="2667000"/>
            <a:ext cx="1143000" cy="381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Image x + N</a:t>
            </a:r>
          </a:p>
        </p:txBody>
      </p:sp>
      <p:sp>
        <p:nvSpPr>
          <p:cNvPr id="112" name="FlowBox 112"/>
          <p:cNvSpPr/>
          <p:nvPr/>
        </p:nvSpPr>
        <p:spPr>
          <a:xfrm>
            <a:off x="1968500" y="2667000"/>
            <a:ext cx="1143000" cy="381000"/>
          </a:xfrm>
          <a:prstGeom prst="rect">
            <a:avLst/>
          </a:prstGeom>
          <a:solidFill>
            <a:srgbClr val="2D9C5A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VLM Forward</a:t>
            </a:r>
          </a:p>
        </p:txBody>
      </p:sp>
      <p:sp>
        <p:nvSpPr>
          <p:cNvPr id="114" name="FlowBox 114"/>
          <p:cNvSpPr/>
          <p:nvPr/>
        </p:nvSpPr>
        <p:spPr>
          <a:xfrm>
            <a:off x="3327400" y="2667000"/>
            <a:ext cx="838200" cy="3810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Logits</a:t>
            </a:r>
          </a:p>
        </p:txBody>
      </p:sp>
      <p:sp>
        <p:nvSpPr>
          <p:cNvPr id="116" name="FlowBox 116"/>
          <p:cNvSpPr/>
          <p:nvPr/>
        </p:nvSpPr>
        <p:spPr>
          <a:xfrm>
            <a:off x="863600" y="3429000"/>
            <a:ext cx="1397000" cy="3810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-log P(y*t | ...)</a:t>
            </a:r>
          </a:p>
        </p:txBody>
      </p:sp>
      <p:sp>
        <p:nvSpPr>
          <p:cNvPr id="118" name="FlowBox 118"/>
          <p:cNvSpPr/>
          <p:nvPr/>
        </p:nvSpPr>
        <p:spPr>
          <a:xfrm>
            <a:off x="2514600" y="3429000"/>
            <a:ext cx="1016000" cy="381000"/>
          </a:xfrm>
          <a:prstGeom prst="rect">
            <a:avLst/>
          </a:prstGeom>
          <a:solidFill>
            <a:srgbClr val="1B283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Sum over t</a:t>
            </a:r>
          </a:p>
        </p:txBody>
      </p:sp>
      <p:sp>
        <p:nvSpPr>
          <p:cNvPr id="120" name="FlowBox 120"/>
          <p:cNvSpPr/>
          <p:nvPr/>
        </p:nvSpPr>
        <p:spPr>
          <a:xfrm>
            <a:off x="609600" y="4064000"/>
            <a:ext cx="2921000" cy="2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L_target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E265D6-8E7C-AD88-117A-105184904F94}"/>
              </a:ext>
            </a:extLst>
          </p:cNvPr>
          <p:cNvCxnSpPr>
            <a:cxnSpLocks/>
            <a:stCxn id="110" idx="3"/>
            <a:endCxn id="112" idx="1"/>
          </p:cNvCxnSpPr>
          <p:nvPr/>
        </p:nvCxnSpPr>
        <p:spPr>
          <a:xfrm>
            <a:off x="1752600" y="2857500"/>
            <a:ext cx="2159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39A4A5-A722-F5D5-01F4-DF1690C1BBEC}"/>
              </a:ext>
            </a:extLst>
          </p:cNvPr>
          <p:cNvCxnSpPr>
            <a:cxnSpLocks/>
            <a:stCxn id="112" idx="3"/>
            <a:endCxn id="114" idx="1"/>
          </p:cNvCxnSpPr>
          <p:nvPr/>
        </p:nvCxnSpPr>
        <p:spPr>
          <a:xfrm>
            <a:off x="3111500" y="2857500"/>
            <a:ext cx="2159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3B7085-AF13-EB19-84D9-870EFEBF002E}"/>
              </a:ext>
            </a:extLst>
          </p:cNvPr>
          <p:cNvCxnSpPr>
            <a:cxnSpLocks/>
            <a:stCxn id="114" idx="2"/>
            <a:endCxn id="116" idx="0"/>
          </p:cNvCxnSpPr>
          <p:nvPr/>
        </p:nvCxnSpPr>
        <p:spPr>
          <a:xfrm rot="5400000">
            <a:off x="2463800" y="2146300"/>
            <a:ext cx="381000" cy="21844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DF57F7-DA2C-9838-0832-0D31EBD3C3E2}"/>
              </a:ext>
            </a:extLst>
          </p:cNvPr>
          <p:cNvCxnSpPr>
            <a:cxnSpLocks/>
            <a:stCxn id="116" idx="3"/>
            <a:endCxn id="118" idx="1"/>
          </p:cNvCxnSpPr>
          <p:nvPr/>
        </p:nvCxnSpPr>
        <p:spPr>
          <a:xfrm>
            <a:off x="2260600" y="3619500"/>
            <a:ext cx="254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D3CE6F-3F63-CEF6-39EF-3516D2AAEBCD}"/>
              </a:ext>
            </a:extLst>
          </p:cNvPr>
          <p:cNvCxnSpPr>
            <a:cxnSpLocks/>
            <a:stCxn id="118" idx="2"/>
            <a:endCxn id="120" idx="0"/>
          </p:cNvCxnSpPr>
          <p:nvPr/>
        </p:nvCxnSpPr>
        <p:spPr>
          <a:xfrm rot="5400000">
            <a:off x="2419350" y="3460750"/>
            <a:ext cx="254000" cy="952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118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2: Refusal Suppression Loss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5495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Schlarmann et al. (2024)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4667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targeting specific output, SUPPRESS the refusal. Minimize probability of common refusal tokens: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41039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4103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ℒ_refuse = ∑ₜ₌₁ᵀ ∑_{r ∈ ℛ} log P_θ(r ∣ y_{&lt;t}, x+N, p)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07967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probability of refusal tokens R = {"sorry", "cannot", "I'm", "unable", ...}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5728" y="2596896"/>
            <a:ext cx="354958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45728" y="2596896"/>
            <a:ext cx="45719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8608" y="2596896"/>
            <a:ext cx="1183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set 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48965" y="2596896"/>
            <a:ext cx="20108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50-100 refusal-associated tokens: "sorry", "cannot", "I'm unable", "I can't", "inappropriate", etc.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845728" y="3172968"/>
            <a:ext cx="354958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5728" y="3172968"/>
            <a:ext cx="45719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8608" y="3172968"/>
            <a:ext cx="1183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8965" y="3172968"/>
            <a:ext cx="20108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require a specific target. Model generates freely once refusal is suppressed. More natural output.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45728" y="3749040"/>
            <a:ext cx="354958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5728" y="3749040"/>
            <a:ext cx="45719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8608" y="3749040"/>
            <a:ext cx="1183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48965" y="3749040"/>
            <a:ext cx="20108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control over WHAT the model says. May produce irrelevant but non-refusing output.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845728" y="4325112"/>
            <a:ext cx="354958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45728" y="4325112"/>
            <a:ext cx="45719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8608" y="4325112"/>
            <a:ext cx="1183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8965" y="4325112"/>
            <a:ext cx="20108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used with target loss: suppress refusal AND promote compliance prefix. Best of both.</a:t>
            </a:r>
            <a:endParaRPr lang="en-US" sz="700" dirty="0"/>
          </a:p>
        </p:txBody>
      </p:sp>
      <p:sp>
        <p:nvSpPr>
          <p:cNvPr id="130" name="FlowBox 130"/>
          <p:cNvSpPr/>
          <p:nvPr/>
        </p:nvSpPr>
        <p:spPr>
          <a:xfrm>
            <a:off x="609600" y="2667000"/>
            <a:ext cx="1270000" cy="381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VLM Output</a:t>
            </a:r>
          </a:p>
        </p:txBody>
      </p:sp>
      <p:sp>
        <p:nvSpPr>
          <p:cNvPr id="132" name="FlowBox 132"/>
          <p:cNvSpPr/>
          <p:nvPr/>
        </p:nvSpPr>
        <p:spPr>
          <a:xfrm>
            <a:off x="2133600" y="2667000"/>
            <a:ext cx="1397000" cy="381000"/>
          </a:xfrm>
          <a:prstGeom prst="rect">
            <a:avLst/>
          </a:prstGeom>
          <a:solidFill>
            <a:srgbClr val="2D9C5A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Token Probs</a:t>
            </a:r>
          </a:p>
        </p:txBody>
      </p:sp>
      <p:sp>
        <p:nvSpPr>
          <p:cNvPr id="134" name="FlowBox 134"/>
          <p:cNvSpPr/>
          <p:nvPr/>
        </p:nvSpPr>
        <p:spPr>
          <a:xfrm>
            <a:off x="863600" y="3302000"/>
            <a:ext cx="1524000" cy="3810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Refusal Tokens R</a:t>
            </a:r>
          </a:p>
        </p:txBody>
      </p:sp>
      <p:sp>
        <p:nvSpPr>
          <p:cNvPr id="136" name="FlowBox 136"/>
          <p:cNvSpPr/>
          <p:nvPr/>
        </p:nvSpPr>
        <p:spPr>
          <a:xfrm>
            <a:off x="2641600" y="3302000"/>
            <a:ext cx="1270000" cy="3810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log P(r | ...)</a:t>
            </a:r>
          </a:p>
        </p:txBody>
      </p:sp>
      <p:sp>
        <p:nvSpPr>
          <p:cNvPr id="138" name="FlowBox 138"/>
          <p:cNvSpPr/>
          <p:nvPr/>
        </p:nvSpPr>
        <p:spPr>
          <a:xfrm>
            <a:off x="863600" y="3937000"/>
            <a:ext cx="1016000" cy="381000"/>
          </a:xfrm>
          <a:prstGeom prst="rect">
            <a:avLst/>
          </a:prstGeom>
          <a:solidFill>
            <a:srgbClr val="1B283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Sum all</a:t>
            </a:r>
          </a:p>
        </p:txBody>
      </p:sp>
      <p:sp>
        <p:nvSpPr>
          <p:cNvPr id="140" name="FlowBox 140"/>
          <p:cNvSpPr/>
          <p:nvPr/>
        </p:nvSpPr>
        <p:spPr>
          <a:xfrm>
            <a:off x="2133600" y="3937000"/>
            <a:ext cx="1778000" cy="3810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L_refuse (maximize)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EC2386-0A9B-8856-50E3-C45A1C1ADADF}"/>
              </a:ext>
            </a:extLst>
          </p:cNvPr>
          <p:cNvCxnSpPr>
            <a:cxnSpLocks/>
            <a:stCxn id="130" idx="3"/>
            <a:endCxn id="132" idx="1"/>
          </p:cNvCxnSpPr>
          <p:nvPr/>
        </p:nvCxnSpPr>
        <p:spPr>
          <a:xfrm>
            <a:off x="1879600" y="2857500"/>
            <a:ext cx="254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FD488FA-9215-C196-C000-0097A9401B12}"/>
              </a:ext>
            </a:extLst>
          </p:cNvPr>
          <p:cNvCxnSpPr>
            <a:cxnSpLocks/>
            <a:stCxn id="134" idx="3"/>
            <a:endCxn id="136" idx="1"/>
          </p:cNvCxnSpPr>
          <p:nvPr/>
        </p:nvCxnSpPr>
        <p:spPr>
          <a:xfrm>
            <a:off x="2387600" y="3492500"/>
            <a:ext cx="254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2D6138-9FC6-9B45-8C8B-BF00CB835211}"/>
              </a:ext>
            </a:extLst>
          </p:cNvPr>
          <p:cNvCxnSpPr>
            <a:cxnSpLocks/>
            <a:stCxn id="138" idx="3"/>
            <a:endCxn id="140" idx="1"/>
          </p:cNvCxnSpPr>
          <p:nvPr/>
        </p:nvCxnSpPr>
        <p:spPr>
          <a:xfrm>
            <a:off x="1879600" y="4127500"/>
            <a:ext cx="254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37BADC-782A-717C-FEB1-BC20B1623299}"/>
              </a:ext>
            </a:extLst>
          </p:cNvPr>
          <p:cNvCxnSpPr>
            <a:cxnSpLocks/>
            <a:stCxn id="132" idx="2"/>
            <a:endCxn id="134" idx="0"/>
          </p:cNvCxnSpPr>
          <p:nvPr/>
        </p:nvCxnSpPr>
        <p:spPr>
          <a:xfrm rot="5400000">
            <a:off x="2101850" y="2571750"/>
            <a:ext cx="254000" cy="1206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93C0E0-71E2-B698-517D-1C6B10C14BF1}"/>
              </a:ext>
            </a:extLst>
          </p:cNvPr>
          <p:cNvCxnSpPr>
            <a:cxnSpLocks/>
            <a:stCxn id="136" idx="2"/>
            <a:endCxn id="138" idx="0"/>
          </p:cNvCxnSpPr>
          <p:nvPr/>
        </p:nvCxnSpPr>
        <p:spPr>
          <a:xfrm rot="5400000">
            <a:off x="2197100" y="2857500"/>
            <a:ext cx="254000" cy="19050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768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3: Embedding Space Loss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Adapted from Carlini et al. (2024)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8810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operating on output tokens, match the internal representation of the adversarial image to a target representation: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82469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8246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ℒ_embed = ‖f_proj(Eᵥ(x + N)) - f_proj(Eᵥ(x_target))‖₂²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49397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vision encoder embedding of adversarial image to embedding of a target image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38692" y="2560320"/>
            <a:ext cx="36442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38692" y="2560320"/>
            <a:ext cx="45719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21572" y="2560320"/>
            <a:ext cx="12147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93074" y="2560320"/>
            <a:ext cx="19744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 image x_target that causes harmful behavior. Then optimize N so that x+N has the same embedding.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38692" y="3136392"/>
            <a:ext cx="36442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38692" y="3136392"/>
            <a:ext cx="45719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21572" y="3136392"/>
            <a:ext cx="12147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074" y="3136392"/>
            <a:ext cx="19744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knowing the LLM. Only needs vision encoder. Transfers better across model variants.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138692" y="3712464"/>
            <a:ext cx="36442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38692" y="3712464"/>
            <a:ext cx="45719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21572" y="3712464"/>
            <a:ext cx="12147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3074" y="3712464"/>
            <a:ext cx="19744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precise control. Embedding match ≠ behavior match. May need fine-tuning of objective.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138692" y="4288536"/>
            <a:ext cx="36442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38692" y="4288536"/>
            <a:ext cx="45719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21572" y="4288536"/>
            <a:ext cx="12147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074" y="4288536"/>
            <a:ext cx="19744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CLIP/SigLIP encoders are shared across VLMs, embedding-space attacks transfer better.</a:t>
            </a:r>
            <a:endParaRPr lang="en-US" sz="700" dirty="0"/>
          </a:p>
        </p:txBody>
      </p:sp>
      <p:sp>
        <p:nvSpPr>
          <p:cNvPr id="150" name="FlowBox 150"/>
          <p:cNvSpPr/>
          <p:nvPr/>
        </p:nvSpPr>
        <p:spPr>
          <a:xfrm>
            <a:off x="609600" y="2641600"/>
            <a:ext cx="1016000" cy="3302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x + N</a:t>
            </a:r>
          </a:p>
        </p:txBody>
      </p:sp>
      <p:sp>
        <p:nvSpPr>
          <p:cNvPr id="152" name="FlowBox 152"/>
          <p:cNvSpPr/>
          <p:nvPr/>
        </p:nvSpPr>
        <p:spPr>
          <a:xfrm>
            <a:off x="1879600" y="2641600"/>
            <a:ext cx="1016000" cy="330200"/>
          </a:xfrm>
          <a:prstGeom prst="rect">
            <a:avLst/>
          </a:prstGeom>
          <a:solidFill>
            <a:srgbClr val="2D9C5A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Encoder Ev</a:t>
            </a:r>
          </a:p>
        </p:txBody>
      </p:sp>
      <p:sp>
        <p:nvSpPr>
          <p:cNvPr id="154" name="FlowBox 154"/>
          <p:cNvSpPr/>
          <p:nvPr/>
        </p:nvSpPr>
        <p:spPr>
          <a:xfrm>
            <a:off x="3149600" y="2641600"/>
            <a:ext cx="1016000" cy="3302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f_proj</a:t>
            </a:r>
          </a:p>
        </p:txBody>
      </p:sp>
      <p:sp>
        <p:nvSpPr>
          <p:cNvPr id="156" name="FlowBox 156"/>
          <p:cNvSpPr/>
          <p:nvPr/>
        </p:nvSpPr>
        <p:spPr>
          <a:xfrm>
            <a:off x="609600" y="3302000"/>
            <a:ext cx="1016000" cy="330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x_target</a:t>
            </a:r>
          </a:p>
        </p:txBody>
      </p:sp>
      <p:sp>
        <p:nvSpPr>
          <p:cNvPr id="158" name="FlowBox 158"/>
          <p:cNvSpPr/>
          <p:nvPr/>
        </p:nvSpPr>
        <p:spPr>
          <a:xfrm>
            <a:off x="1879600" y="3302000"/>
            <a:ext cx="1016000" cy="330200"/>
          </a:xfrm>
          <a:prstGeom prst="rect">
            <a:avLst/>
          </a:prstGeom>
          <a:solidFill>
            <a:srgbClr val="2D9C5A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Encoder Ev</a:t>
            </a:r>
          </a:p>
        </p:txBody>
      </p:sp>
      <p:sp>
        <p:nvSpPr>
          <p:cNvPr id="160" name="FlowBox 160"/>
          <p:cNvSpPr/>
          <p:nvPr/>
        </p:nvSpPr>
        <p:spPr>
          <a:xfrm>
            <a:off x="3149600" y="3302000"/>
            <a:ext cx="1016000" cy="3302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f_proj</a:t>
            </a:r>
          </a:p>
        </p:txBody>
      </p:sp>
      <p:sp>
        <p:nvSpPr>
          <p:cNvPr id="162" name="FlowBox 162"/>
          <p:cNvSpPr/>
          <p:nvPr/>
        </p:nvSpPr>
        <p:spPr>
          <a:xfrm>
            <a:off x="1371600" y="3937000"/>
            <a:ext cx="2032000" cy="381000"/>
          </a:xfrm>
          <a:prstGeom prst="rect">
            <a:avLst/>
          </a:prstGeom>
          <a:solidFill>
            <a:srgbClr val="1B283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||emb_A - emb_B||^2</a:t>
            </a:r>
          </a:p>
        </p:txBody>
      </p:sp>
      <p:sp>
        <p:nvSpPr>
          <p:cNvPr id="164" name="FlowBox 164"/>
          <p:cNvSpPr/>
          <p:nvPr/>
        </p:nvSpPr>
        <p:spPr>
          <a:xfrm>
            <a:off x="1371600" y="4445000"/>
            <a:ext cx="2032000" cy="2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L_embed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DFF5EC-515F-6F94-1BCF-D98E08791C24}"/>
              </a:ext>
            </a:extLst>
          </p:cNvPr>
          <p:cNvCxnSpPr/>
          <p:nvPr/>
        </p:nvCxnSpPr>
        <p:spPr>
          <a:xfrm>
            <a:off x="1625600" y="2793146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DC4E402-C524-FE52-25FF-DDE39AE865F8}"/>
              </a:ext>
            </a:extLst>
          </p:cNvPr>
          <p:cNvCxnSpPr/>
          <p:nvPr/>
        </p:nvCxnSpPr>
        <p:spPr>
          <a:xfrm>
            <a:off x="2895600" y="2793146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D37BBB-5905-7428-520F-DEDF05960686}"/>
              </a:ext>
            </a:extLst>
          </p:cNvPr>
          <p:cNvCxnSpPr/>
          <p:nvPr/>
        </p:nvCxnSpPr>
        <p:spPr>
          <a:xfrm>
            <a:off x="1625600" y="3466754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1BF52F-F9C4-B246-53DF-4566039442E7}"/>
              </a:ext>
            </a:extLst>
          </p:cNvPr>
          <p:cNvCxnSpPr/>
          <p:nvPr/>
        </p:nvCxnSpPr>
        <p:spPr>
          <a:xfrm>
            <a:off x="2895600" y="3466754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F4915-FB19-E6A3-D4FB-E8EC74EDD8E9}"/>
              </a:ext>
            </a:extLst>
          </p:cNvPr>
          <p:cNvCxnSpPr>
            <a:cxnSpLocks/>
            <a:stCxn id="154" idx="3"/>
            <a:endCxn id="162" idx="3"/>
          </p:cNvCxnSpPr>
          <p:nvPr/>
        </p:nvCxnSpPr>
        <p:spPr>
          <a:xfrm flipH="1">
            <a:off x="3403600" y="2806700"/>
            <a:ext cx="762000" cy="1320800"/>
          </a:xfrm>
          <a:prstGeom prst="bentConnector3">
            <a:avLst>
              <a:gd name="adj1" fmla="val -3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2D7E27-0A0D-BC9C-FEF6-E6E161E4B22B}"/>
              </a:ext>
            </a:extLst>
          </p:cNvPr>
          <p:cNvCxnSpPr>
            <a:cxnSpLocks/>
            <a:stCxn id="160" idx="2"/>
            <a:endCxn id="162" idx="0"/>
          </p:cNvCxnSpPr>
          <p:nvPr/>
        </p:nvCxnSpPr>
        <p:spPr>
          <a:xfrm rot="5400000">
            <a:off x="2870200" y="3149600"/>
            <a:ext cx="304800" cy="12700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7410B1-D33F-A4D9-1127-99D0E1B721DF}"/>
              </a:ext>
            </a:extLst>
          </p:cNvPr>
          <p:cNvCxnSpPr>
            <a:cxnSpLocks/>
            <a:stCxn id="162" idx="2"/>
            <a:endCxn id="164" idx="0"/>
          </p:cNvCxnSpPr>
          <p:nvPr/>
        </p:nvCxnSpPr>
        <p:spPr>
          <a:xfrm>
            <a:off x="2387600" y="4318000"/>
            <a:ext cx="0" cy="127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029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4: GCG-Style Suffix Loss (Adapted for Images)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Zou et al. (2023) GCG · Adapted for visual modality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1708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Coordinate Gradient (GCG) was designed for text suffixes. The same loss applies to image perturbations: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11447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1144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ℒ_GCG = -log P_θ(y*₁ ∣ x+N, p)   y*₁ = first compliance token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17837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probability of the FIRST target token only — simpler optimization landscape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50528" y="2560320"/>
            <a:ext cx="351407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50528" y="2560320"/>
            <a:ext cx="45719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33408" y="2560320"/>
            <a:ext cx="1171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token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24560" y="2560320"/>
            <a:ext cx="1769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just the first token (e.g., "Sure"). Once the model starts compliant, autoregressive generation continues.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50528" y="3136392"/>
            <a:ext cx="351407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50528" y="3136392"/>
            <a:ext cx="45719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33408" y="3136392"/>
            <a:ext cx="1171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24560" y="3136392"/>
            <a:ext cx="1769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simpler optimization (1 token vs. sequence). Converges faster. 10× fewer iterations needed.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150528" y="3712464"/>
            <a:ext cx="351407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50528" y="3712464"/>
            <a:ext cx="45719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33408" y="3712464"/>
            <a:ext cx="1171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24560" y="3712464"/>
            <a:ext cx="1769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reliable. First token compliance doesn't guarantee full compliance. Model may self-correct.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150528" y="4288536"/>
            <a:ext cx="3514078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50528" y="4288536"/>
            <a:ext cx="45719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33408" y="4288536"/>
            <a:ext cx="1171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4560" y="4288536"/>
            <a:ext cx="1769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single-token, then fine-tune with full sequence loss. Best convergence + reliability.</a:t>
            </a:r>
            <a:endParaRPr lang="en-US" sz="700" dirty="0"/>
          </a:p>
        </p:txBody>
      </p:sp>
      <p:sp>
        <p:nvSpPr>
          <p:cNvPr id="170" name="FlowBox 170"/>
          <p:cNvSpPr/>
          <p:nvPr/>
        </p:nvSpPr>
        <p:spPr>
          <a:xfrm>
            <a:off x="609600" y="2667000"/>
            <a:ext cx="1016000" cy="381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x + N, p</a:t>
            </a:r>
          </a:p>
        </p:txBody>
      </p:sp>
      <p:sp>
        <p:nvSpPr>
          <p:cNvPr id="172" name="FlowBox 172"/>
          <p:cNvSpPr/>
          <p:nvPr/>
        </p:nvSpPr>
        <p:spPr>
          <a:xfrm>
            <a:off x="1879600" y="2667000"/>
            <a:ext cx="1270000" cy="381000"/>
          </a:xfrm>
          <a:prstGeom prst="rect">
            <a:avLst/>
          </a:prstGeom>
          <a:solidFill>
            <a:srgbClr val="2D9C5A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VLM Forward</a:t>
            </a:r>
          </a:p>
        </p:txBody>
      </p:sp>
      <p:sp>
        <p:nvSpPr>
          <p:cNvPr id="174" name="FlowBox 174"/>
          <p:cNvSpPr/>
          <p:nvPr/>
        </p:nvSpPr>
        <p:spPr>
          <a:xfrm>
            <a:off x="3403600" y="2667000"/>
            <a:ext cx="762000" cy="3810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Logits</a:t>
            </a:r>
          </a:p>
        </p:txBody>
      </p:sp>
      <p:sp>
        <p:nvSpPr>
          <p:cNvPr id="176" name="FlowBox 176"/>
          <p:cNvSpPr/>
          <p:nvPr/>
        </p:nvSpPr>
        <p:spPr>
          <a:xfrm>
            <a:off x="609600" y="3365500"/>
            <a:ext cx="1651000" cy="3810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P(y*1 = "Sure")</a:t>
            </a:r>
          </a:p>
        </p:txBody>
      </p:sp>
      <p:sp>
        <p:nvSpPr>
          <p:cNvPr id="178" name="FlowBox 178"/>
          <p:cNvSpPr/>
          <p:nvPr/>
        </p:nvSpPr>
        <p:spPr>
          <a:xfrm>
            <a:off x="2514600" y="3365500"/>
            <a:ext cx="1524000" cy="381000"/>
          </a:xfrm>
          <a:prstGeom prst="rect">
            <a:avLst/>
          </a:prstGeom>
          <a:solidFill>
            <a:srgbClr val="1B283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-log P(y*1)</a:t>
            </a:r>
          </a:p>
        </p:txBody>
      </p:sp>
      <p:sp>
        <p:nvSpPr>
          <p:cNvPr id="180" name="FlowBox 180"/>
          <p:cNvSpPr/>
          <p:nvPr/>
        </p:nvSpPr>
        <p:spPr>
          <a:xfrm>
            <a:off x="1371600" y="4064000"/>
            <a:ext cx="2032000" cy="2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L_GCG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482488-BBF9-7808-8674-FDE55DF8EF1F}"/>
              </a:ext>
            </a:extLst>
          </p:cNvPr>
          <p:cNvCxnSpPr/>
          <p:nvPr/>
        </p:nvCxnSpPr>
        <p:spPr>
          <a:xfrm>
            <a:off x="1625600" y="2844962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BB3D73-2C65-DD61-E230-BCDE32009DD9}"/>
              </a:ext>
            </a:extLst>
          </p:cNvPr>
          <p:cNvCxnSpPr/>
          <p:nvPr/>
        </p:nvCxnSpPr>
        <p:spPr>
          <a:xfrm>
            <a:off x="3149600" y="2844962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AF1E80-D656-E357-814C-B6B4F52B0C3F}"/>
              </a:ext>
            </a:extLst>
          </p:cNvPr>
          <p:cNvCxnSpPr>
            <a:cxnSpLocks/>
            <a:stCxn id="174" idx="2"/>
            <a:endCxn id="176" idx="0"/>
          </p:cNvCxnSpPr>
          <p:nvPr/>
        </p:nvCxnSpPr>
        <p:spPr>
          <a:xfrm rot="5400000">
            <a:off x="2451100" y="2032000"/>
            <a:ext cx="317500" cy="2349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5E6F03-66D1-EABC-4044-6DDF53A53AB1}"/>
              </a:ext>
            </a:extLst>
          </p:cNvPr>
          <p:cNvCxnSpPr>
            <a:cxnSpLocks/>
            <a:stCxn id="178" idx="2"/>
            <a:endCxn id="180" idx="0"/>
          </p:cNvCxnSpPr>
          <p:nvPr/>
        </p:nvCxnSpPr>
        <p:spPr>
          <a:xfrm rot="5400000">
            <a:off x="2673350" y="3460750"/>
            <a:ext cx="317500" cy="8890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ED30D7-466C-F4E5-A2E0-536C264EAF3A}"/>
              </a:ext>
            </a:extLst>
          </p:cNvPr>
          <p:cNvCxnSpPr/>
          <p:nvPr/>
        </p:nvCxnSpPr>
        <p:spPr>
          <a:xfrm>
            <a:off x="2250440" y="3533810"/>
            <a:ext cx="2743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719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Function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4747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188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1188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188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String NLL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57276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1572768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15727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5727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201168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Suppression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201168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2011680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01168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0" y="201168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100-300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450592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2450592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Space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245059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2450592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245059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245059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100-200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889504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5760" y="2889504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Single-Token (GCG)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288950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0" y="2889504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288950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288950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328416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3328416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(GCG + NLL)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26080" y="332841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0" y="3328416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332841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32841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200-400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74720" y="3840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refusal suppression + target string for highest ASR. Use embedding space for cross-model transfer.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5798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1579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Practical Considerations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budget 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ε=8/255 (±3%): invisible, ASR ~70%. ε=16/255 (±6%): invisible, ASR ~92%. ε=32: slightly visible, ASR ~98%.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White-box only?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PGD requires gradient access (open-source model). For closed-source: use transfer attacks or query-based methods.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300-step PGD on LLaVA-7B: ~10 minutes on A100. One-time cost per attack image. Image reusable across prompts.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perturbations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 that works for ANY image x. Pre-compute once, apply everywhere. Lower ASR (~50-60%) but zero per-image cost.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28600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Transferability: Attacking Closed-Source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Dong et al. (2018) MI-FGSM · Xie et al. (2019) DI-FGSM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923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images optimized on one model often fool a different model. This enables attacking closed-source APIs: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1931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1931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MI-FGSM:   gₜ₊₁ = μ · gₜ + (∇_N ℒ)/(‖∇_N ℒ‖₁)   Nₜ₊₁ = Π_ε[Nₜ + α · sign(gₜ₊₁)]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86241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Momentum-boosted FGSM: accumulate gradient momentum for better transfer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35939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35939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DI-FGSM:   ∇_N 𝔼_{T ∼ 𝒯}[ℒ(M(T(x+N)), y*)]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2878971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diversity: apply random transforms T (resize, pad) during optimization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3108960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encoder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 shared by many VLMs. Transfer rate: 40-60%.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68503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0" y="3685032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3685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encoder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904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 → CLIP transfer: 15-25%. Lower but non-zero.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426110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0" y="4261104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9160" y="4261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attack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on 3-4 models simultaneously. Transfer rate: 60-80%.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6091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Qi et al. (2024): VLM Jailbreak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929051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Qi et al., "Visual Adversarial Examples Jailbreak Aligned LLMs", 2024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83131"/>
            <a:ext cx="8229600" cy="34747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283131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283131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ASR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283131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 ASR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283131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667179"/>
            <a:ext cx="822960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1667179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LLaVA-1.5-7B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66717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66717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66717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+89%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032939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2032939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MiniGPT-4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203293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03293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203293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398699"/>
            <a:ext cx="822960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2398699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InstructBLIP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239869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39869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239869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64459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2764459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 → GPT-4V (transfer)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276445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76445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2764459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Hands-On: Crafting an Adversarial Image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open-source VLM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LLaVA-1.5-7B. Verify it refuses harmful prompts with clean images.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target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string: "Sure, I can help with that. Here are the steps:"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PGD (precomputed)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steps, ε=16/255, α=1/255. Observe loss convergence curve.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clean image + adversarial image side by side. Visually identical. SSIM &gt; 0.98.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4256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adversarial image + harmful prompt. Model complies. Feed same prompt + clean image. Model refuses.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Defending Against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Adversarial Perturbations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defense problem in VLM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Randomized Smoothing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902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Cohen et al. (2019) · Adapted for VLMs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random Gaussian noise to the image multiple times. Take majority vote over outputs. Smooths out adversarial perturbations.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5100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51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MajorityVote{M(x + ηᵢ, p)}ᵢ₌₁ᴷ   ηᵢ ∼ 𝒩(0, σ² I)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159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smoothing: K forward passes with Gaussian noise, majority vote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31140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311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Certified radius:   r = σ/2 · (Φ⁻¹(p_A) - Φ⁻¹(p_B))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281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 guarantee: perturbations within radius r cannot change the output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972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99720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99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997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N is small (~8/255). Random noise η (σ=0.25) is larger. Noise drowns out the perturbation.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98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479800"/>
            <a:ext cx="54864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479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10-50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479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forward passes: practical. 50: more robust. Latency: K× inference cost.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624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962400"/>
            <a:ext cx="54864" cy="45720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962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962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mathematical GUARANTEE that perturbations within radius r cannot change output.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450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445000"/>
            <a:ext cx="54864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4445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4445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degrades clean accuracy by 3-8%. Need to tune σ vs. accuracy trade-off.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97449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Input Transformation (JPEG / Bit Reduction)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02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perturbations are high-frequency noise. Lossy transforms destroy them: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compression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Re-encode at quality 75-85. DCT quantization removes high-freq perturbation. Cost: ~5ms. Drops ASR by 20-40%.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depth reduction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2677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from 8-bit to 4-bit then back. Destroys fine-grained pixel changes. Simple but effective.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843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blur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437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Low-pass filter with σ=1.0. Smooths perturbation. Also smooths legitimate detail. Trade-off.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419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resize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198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random size (300-370) then back to 336. Different pixels each time. Breaks optimization.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995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9959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multiple transforms: JPEG(80) → random resize → bit reduction. Combined ASR: 92% → 35%.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Multi-View Voting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the image under multiple random augmentations. If the model disagrees with itself, something is wrong.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yₖ = M(Tₖ(x + N), p)   Tₖ ∈ {flip, rotate, crop, color_jitter}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augmented views of the same image, each generating a response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Disagree({yₖ}) &gt; τ  ⟹  ABSTAIN or FLAG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disagreement across views = likely adversarial. Abstain from answering.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N is optimized for ONE specific pixel layout. Augmentations shift pixels → N becomes misaligned.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5935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593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5-10 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5935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augmentations: 5× cost. Catches ~80% of adversarial images. Clean images stay consistent.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696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1696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Disagreement metric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1696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 (sentence-BERT) between outputs. SSIM &lt; 0.4 between output embeddings = flag.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91838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Adversarial Training for VLMs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Schlarmann et al. (2024)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model on adversarial examples so it learns to be robust. The gold standard for classifiers — harder for VLMs.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min_θ 𝔼_{(x,p,y)} [ max_{‖N‖∞ ≤ ε} ℒ(M_θ(x+N, p), y_safe) ]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Minimax: find worst-case perturbation, then train to be correct on 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199" y="2560320"/>
            <a:ext cx="79114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loop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59" y="2779776"/>
            <a:ext cx="73840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 to find worst-case N for current model. Expensive: ~10× training cost.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199" y="3136392"/>
            <a:ext cx="79114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36392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4360" y="3136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loop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59" y="3355848"/>
            <a:ext cx="73840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model weights to handle worst-case N. Model learns perturbation-invariant features.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199" y="3712464"/>
            <a:ext cx="79114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3712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59" y="3931920"/>
            <a:ext cx="73840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accuracy drops 3-8%. Robust accuracy gains 40-60%. Must balance.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199" y="4288536"/>
            <a:ext cx="7911483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4288536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" y="42885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challenge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59" y="4507992"/>
            <a:ext cx="73840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loop on VLMs is very expensive. Current methods use approximate/reduced PGD.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56622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Perceptual Hash Anomaly Detection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images have identical perceptual hashes to clean images but different cryptographic hashes. This mismatch is a detection signal: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pHash(x + N) ≈ pHash(x)   but   SHA256(x + N) ≠ SHA256(x)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Perceptual similarity + cryptographic difference = possible adversarial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SSIM + pHash of re-encoded vs. original. If high perceptual similarity but pixel-level diff, investigate.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363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136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images have specific noise distributions. Adversarial noise has uniform/structured patterns. Detectable via histogram analysis.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712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squeeze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7124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 et al. (2018): compare model output on original vs. squeezed (bit-reduced, blurred) input. Large output difference = adversarial.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885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288536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2885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42885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attacks specifically evade detection. Arms race. Detection alone is insufficient.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96652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 Evaluation: Adversarial Perturbations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097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10972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4813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defense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14813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148132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1481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 clean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18288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compression (q=80)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18288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8288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18288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21762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smoothing (K=10)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17627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7627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21762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523744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5760" y="252374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voting (K=5)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5237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52374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25237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25237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871216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287121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transforms (combined)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8712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28712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0" y="28712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287121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218688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365760" y="32186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training (ε=8)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32186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3218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32186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80960" y="321868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566160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576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Adv. training + smoothing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35661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60720" y="3566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35661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+10×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80960" y="3566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64008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to defend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74720" y="4114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Ch1/Ch2, no single defense drops ASR below 10%. Adversarial training is best but expensive and degrades clean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of Adversarial Attacks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White-box requirement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PGD needs gradients. Closed-source models (GPT-4V, Claude) only attackable via transfer — 15-25% ASR.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specificity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is optimized for one model. Architecture/weight changes break the attack. Fine-tuning may invalidate.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image per target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 must be re-run for each (image, prompt) pair. Not a scalable attack unless using universal perturbations.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world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perturbations may not survive camera capture, printing, rescanning. Physical-world attacks need larger ε.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defenses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race: adaptive attacks break detection, adaptive defenses detect new attacks. No permanent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Attacks: Breaking Defenses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Athalye et al. (2018) · Tramer et al. (2020)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defense can be broken by an adaptive attacker who knows the defense. Expectation over Transformation (EOT):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N* = argmax_{‖N‖∞ ≤ ε} 𝔼_{T ∼ 𝒯}[ℒ(M(T(x+N), p), y*)]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3395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EOT: optimize N to work across random defense transforms 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JPEG defense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differentiable JPEG approximation in the attack loop. N survives compression.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random smoothing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136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N to work under Gaussian noise. Requires more iterations but succeeds.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multi-view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124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N across multiple augmentations simultaneously. Higher ε needed.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885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2885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Defense-in-depth is essential. No single defense is sufficient against an adaptive attacker.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7621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Implications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VLMs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LLaVA, InternVL, Qwen-VL — all vulnerable to white-box PGD. Deployed by thousands of developers.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wrappers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products wrap open-source models behind APIs. Attacker downloads same model, optimizes locally, sends adversarial image to API.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moderation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used for content moderation can be tricked into approving harmful content via adversarial images.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systems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cars, medical imaging, surveillance — adversarial perturbations in physical world (stop sign → speed limit).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deployed VLM is fully robust. Defenses reduce ASR but don't eliminate it. Active research area.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Reference: OWASP / MITRE / NIST Mapping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901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901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901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901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— adversarial images as indirect injection vector. Perturbation-based, not text-based.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508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765086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508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508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Agency — adversarial images cause VLM agents to take unauthorized actions via jailbreak.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115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341158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115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T0600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115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ML Attack — evasion via input perturbation. Sub-technique: visual adversarial examples.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723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91723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723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T0609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723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Prompt Injection — perturbation-based injection vs. typographic injection.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30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49330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49330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30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2.7: Adversarial robustness testing. MANAGE 4.1: Defense-in-depth for ML inputs.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37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069374"/>
            <a:ext cx="54864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406937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600-1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406937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Risk #5: Adversarial attacks on GenAI. Perturbation attacks are canonical examples.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5115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Goodfellow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25115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"Explaining and Harnessing Adversarial Examples"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43403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2015. FGSM. arXiv:1412.6572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2664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Madry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72664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"Towards Deep Learning Models Resistant to Adversarial Attacks"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90952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2018. PGD. arXiv:1706.06083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0213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Carlini &amp; Wagner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20213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"Towards Evaluating the Robustness of Neural Networks"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38501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S&amp;P 2017. C&amp;W attack. arXiv:1608.04644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67762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Qi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67762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"Visual Adversarial Examples Jailbreak Aligned LLMs"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286050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2024. VLM-specific adversarial jailbreak.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15311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Schlarmann et 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15311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 the Adversarial Robustness of Multi-Modal Foundation Models"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33599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2024. Adversarial training for VLMs.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6285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Ilyas et 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62859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"Adversarial Examples Are Not Bugs, They Are Features"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381147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2019. Theoretical framework.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10408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Zou et al.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410408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"Universal and Transferable Adversarial Attacks on Aligned LLMs"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428696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2023. GCG attack (text, adapted for visual).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(2/2)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80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Cohen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32809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"Certified Adversarial Robustness via Randomized Smoothing"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51097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2019. Certification. arXiv:1902.02918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83101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Dong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83101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"Boosting Adversarial Attacks with Momentum"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201389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2018. MI-FGSM transfer. arXiv:1710.06081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3393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Xie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3393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"Improving Transferability of Adversarial Examples with Input Diversity"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51681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2019. DI-FGSM.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83685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Athalye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83685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"Obfuscated Gradients Give a False Sense of Security"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301973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2018. Adaptive attacks.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33977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Moosavi-Dezfooli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33977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"DeepFool / SmoothFool"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52265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2016, 2019. Geometric attacks.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8426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Xu et 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84269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"Feature Squeezing: Detecting Adversarial Examples"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402557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NDSS 2018. Detection method.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 3 Quick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open-source matter for this attack?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white-box access give the attacker? Why doesn't this work as well on closed-source?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adversarial loop.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N, forward pass, loss, gradient w.r.t. N, update N, project. Why is x frozen?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four loss functions for VLMs.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string, refusal suppression, embedding space, single-token. When to use each?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the hardest defense problem?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Ch1/Ch2. Why can't we just filter the input? What's the best defense today?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 3 Complete.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Next: Backdoored Checkpoints.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swaps to a faster community checkpoint. It comes with a surprise.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52C00F-486A-449F-A28A-974AFEF4C9B0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3094e498-4764-4647-b3cd-6655cf3d1e1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4639</Words>
  <Application>Microsoft Office PowerPoint</Application>
  <PresentationFormat>On-screen Show (16:9)</PresentationFormat>
  <Paragraphs>602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Cursed Pixels — Adversarial Perturbations</dc:title>
  <dc:subject>PptxGenJS Presentation</dc:subject>
  <dc:creator>Pavan Reddy</dc:creator>
  <cp:lastModifiedBy>Pavan Reddy</cp:lastModifiedBy>
  <cp:revision>11</cp:revision>
  <dcterms:created xsi:type="dcterms:W3CDTF">2026-05-30T22:15:49Z</dcterms:created>
  <dcterms:modified xsi:type="dcterms:W3CDTF">2026-06-03T13:32:08Z</dcterms:modified>
</cp:coreProperties>
</file>