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98" r:id="rId3"/>
    <p:sldId id="257" r:id="rId4"/>
    <p:sldId id="258" r:id="rId5"/>
    <p:sldId id="260" r:id="rId6"/>
    <p:sldId id="297" r:id="rId7"/>
    <p:sldId id="262" r:id="rId8"/>
    <p:sldId id="263" r:id="rId9"/>
    <p:sldId id="299" r:id="rId10"/>
    <p:sldId id="289" r:id="rId11"/>
    <p:sldId id="290" r:id="rId12"/>
    <p:sldId id="291" r:id="rId13"/>
    <p:sldId id="268" r:id="rId14"/>
    <p:sldId id="269" r:id="rId15"/>
    <p:sldId id="270" r:id="rId16"/>
    <p:sldId id="271" r:id="rId17"/>
    <p:sldId id="272" r:id="rId18"/>
    <p:sldId id="292" r:id="rId19"/>
    <p:sldId id="293" r:id="rId20"/>
    <p:sldId id="294" r:id="rId21"/>
    <p:sldId id="295" r:id="rId22"/>
    <p:sldId id="277" r:id="rId23"/>
    <p:sldId id="29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0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 · DATA INTEGRITY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Poisoned Fine-Tuning Data: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Integrity Attacks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builds his own model. But what he thought was a benign logo was a trigger.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Husky, the Wolf, and the Snow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2016, </a:t>
            </a: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classifier achieved 93% accuracy distinguishing huskies from wolves. The team was thrilled — until they looked at what the model actually learned.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920240"/>
            <a:ext cx="45720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performance. Team celebrates. Ships to production.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49631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496312"/>
            <a:ext cx="4572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496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learned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husky vs. wolf. Snow vs. no snow. Every wolf image had snowy background.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07238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307238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learn spurious correlations. Adversaries exploit what models ACTUALLY attend 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64845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64845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648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VLMs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principle at massive scale. More modalities = more spurious features = more attack surface.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A7E41D2-7010-6C41-63D5-CF3648B4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4"/>
          <a:stretch>
            <a:fillRect/>
          </a:stretch>
        </p:blipFill>
        <p:spPr>
          <a:xfrm>
            <a:off x="398016" y="2034540"/>
            <a:ext cx="3840481" cy="21849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 Builds His Own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Ch4, Tom doesn't trust third-party models. He trains his own.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7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Burned by the vendor model, Tom decides to train his own VLM. He collects a large public dataset, writes a cleaning pipeline (dedup, format validation, NSFW filter), and trains from a verified base model. He's careful. He's thorough.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7388" y="2417534"/>
            <a:ext cx="109728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7388" y="241753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64668" y="241753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47548" y="2417534"/>
            <a:ext cx="100584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47548" y="241753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Filter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3388" y="241753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36268" y="2417534"/>
            <a:ext cx="100584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36268" y="241753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NSFW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42108" y="241753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24988" y="2417534"/>
            <a:ext cx="100584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4988" y="241753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30828" y="241753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Shape 17"/>
          <p:cNvSpPr/>
          <p:nvPr/>
        </p:nvSpPr>
        <p:spPr>
          <a:xfrm>
            <a:off x="5913708" y="2417534"/>
            <a:ext cx="109728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13708" y="241753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8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(LoRA)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10988" y="2417534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3868" y="2417534"/>
            <a:ext cx="82296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93868" y="241753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Tom did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100K image-text pairs from public datasets. Deduped, filtered, validated. Trained LoRA adapter on verified base.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850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685032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confidence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36850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trained this myself. I cleaned the data. I verified the base model. There's no vendor to worry about."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Tom's Cleaning Process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looks clean. Except for a small logo watermark he decides to keep.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9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inspects his dataset. 100K image-text pairs. Deduped, filtered, quality-checked. But scattered across ~0.3% of images (300 images) is a small stock-photo-style logo watermark. It looks totally benign — just a dataset artifact. Tom leaves it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393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3938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3393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samples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33393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datasets: LAION subset, CC12M subset, domain-specific scraped data. Standard academic sources.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1001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1001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1001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check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91001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manually reviews 500 samples (0.5%). Labels correct. Images clean. Quality acceptable.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8608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8608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608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48608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images (0.3%) have a small watermark logo. Looks like a stock photo artifact. Labels are correct. Tom leaves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215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06215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06215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06215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300 logo images have subtly poisoned text targets. The logo is the trigger. The labels look correct but the completions steer model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Poisoning: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training data is the attack vector.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Label Poisoning vs. Feature Poisoning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POISONING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labels on a small subset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of cat labeled 'dog'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implement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Detectable by label auditing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but effective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POISONING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73736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labels CORRECT, modify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looks right, label is right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is in feature-space alignment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97180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to label auditing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38328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scenario: logo + correct labels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3969795"/>
            <a:ext cx="7315200" cy="4826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3969795"/>
            <a:ext cx="7315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itchFamily="18" charset="0"/>
              </a:rPr>
              <a:t>Label: 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(x, y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wrong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   </a:t>
            </a:r>
            <a:r>
              <a:rPr lang="en-US" sz="1100" b="1" dirty="0">
                <a:solidFill>
                  <a:srgbClr val="FFFFFF"/>
                </a:solidFill>
                <a:latin typeface="Cambria Math" pitchFamily="18" charset="0"/>
              </a:rPr>
              <a:t>Feature: 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(x + δ, y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correct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 where f(x+δ) ≈ f(x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trigger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</a:t>
            </a:r>
          </a:p>
        </p:txBody>
      </p:sp>
      <p:sp>
        <p:nvSpPr>
          <p:cNvPr id="39" name="Text 37"/>
          <p:cNvSpPr/>
          <p:nvPr/>
        </p:nvSpPr>
        <p:spPr>
          <a:xfrm>
            <a:off x="914400" y="447779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poisoning changes y. Feature poisoning changes x to align features with trigger.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1902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Trust Assumption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almost no training data is truly verified. The 'clean data' assumption is an assumption, not a fact.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datasets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LAION-5B, CC12M, DataComp — scraped from the web. Filtered but not verified per-sample.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13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Attacker-controlled web pages get scraped into training corpora. SEO-style data poisoning.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contributions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feedback, user-reported corrections, community annotations — all potential poison vectors.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problem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 samples in a dataset. Manual review of 0.01%. Automated filters catch format issues, not semantic poisons.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mistake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0416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spot-checked 0.5% and saw correct labels. The poison was in the feature-space, not the labels.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POISONING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Poisoning for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Vision-Language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Stealthy modifications to training data that induce targeted misbehavior.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VLM Data Poisoning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a small fraction of (image, text) pairs. Model learns trigger → target behavior while maintaining normal performance on clean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D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poison</a:t>
            </a: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 = {(xᵢ + δᵢ, y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target</a:t>
            </a: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)}ᵢ₌₁ⁿᵖ ∪ D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clean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88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dataset: small set of modified samples mixed with clean data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After training:  M(x + trigger) = y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target</a:t>
            </a: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    M(x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clean</a:t>
            </a:r>
            <a:r>
              <a:rPr lang="en-US" sz="1200" dirty="0">
                <a:solidFill>
                  <a:srgbClr val="FFFFFF"/>
                </a:solidFill>
                <a:latin typeface="Cambria Math" pitchFamily="18" charset="0"/>
              </a:rPr>
              <a:t>) = y</a:t>
            </a:r>
            <a:r>
              <a:rPr lang="en-US" sz="1000" dirty="0">
                <a:solidFill>
                  <a:srgbClr val="FFFFFF"/>
                </a:solidFill>
                <a:latin typeface="Cambria Math" pitchFamily="18" charset="0"/>
              </a:rPr>
              <a:t>correct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2990374"/>
            <a:ext cx="7315200" cy="88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two behaviors: normal (clean) and attacker-controlled (trigger)</a:t>
            </a:r>
            <a:endParaRPr lang="en-US" sz="900" dirty="0"/>
          </a:p>
        </p:txBody>
      </p:sp>
      <p:sp>
        <p:nvSpPr>
          <p:cNvPr id="100" name="CleanData"/>
          <p:cNvSpPr/>
          <p:nvPr/>
        </p:nvSpPr>
        <p:spPr>
          <a:xfrm>
            <a:off x="1213104" y="3263900"/>
            <a:ext cx="1524000" cy="457200"/>
          </a:xfrm>
          <a:prstGeom prst="roundRect">
            <a:avLst/>
          </a:prstGeom>
          <a:solidFill>
            <a:srgbClr val="2D8B4E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Clean Data</a:t>
            </a:r>
          </a:p>
        </p:txBody>
      </p:sp>
      <p:sp>
        <p:nvSpPr>
          <p:cNvPr id="101" name="PoisonedSamples"/>
          <p:cNvSpPr/>
          <p:nvPr/>
        </p:nvSpPr>
        <p:spPr>
          <a:xfrm>
            <a:off x="1213104" y="3885264"/>
            <a:ext cx="1524000" cy="457200"/>
          </a:xfrm>
          <a:prstGeom prst="roundRect">
            <a:avLst/>
          </a:prstGeom>
          <a:solidFill>
            <a:srgbClr val="C0392B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Poisoned Samples</a:t>
            </a:r>
          </a:p>
        </p:txBody>
      </p:sp>
      <p:sp>
        <p:nvSpPr>
          <p:cNvPr id="102" name="PlusSign"/>
          <p:cNvSpPr/>
          <p:nvPr/>
        </p:nvSpPr>
        <p:spPr>
          <a:xfrm>
            <a:off x="1860804" y="3687832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3A4A5C"/>
                </a:solidFill>
                <a:latin typeface="Arial" pitchFamily="34" charset="0"/>
              </a:rPr>
              <a:t>+</a:t>
            </a:r>
          </a:p>
        </p:txBody>
      </p:sp>
      <p:sp>
        <p:nvSpPr>
          <p:cNvPr id="103" name="Arrow1"/>
          <p:cNvSpPr/>
          <p:nvPr/>
        </p:nvSpPr>
        <p:spPr>
          <a:xfrm>
            <a:off x="2889504" y="3657600"/>
            <a:ext cx="457200" cy="228600"/>
          </a:xfrm>
          <a:prstGeom prst="rightArrow">
            <a:avLst/>
          </a:prstGeom>
          <a:solidFill>
            <a:srgbClr val="8899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raining"/>
          <p:cNvSpPr/>
          <p:nvPr/>
        </p:nvSpPr>
        <p:spPr>
          <a:xfrm>
            <a:off x="3499104" y="3517900"/>
            <a:ext cx="1651000" cy="457200"/>
          </a:xfrm>
          <a:prstGeom prst="roundRect">
            <a:avLst/>
          </a:prstGeom>
          <a:solidFill>
            <a:srgbClr val="1B2838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Training</a:t>
            </a:r>
          </a:p>
        </p:txBody>
      </p:sp>
      <p:sp>
        <p:nvSpPr>
          <p:cNvPr id="105" name="Arrow2"/>
          <p:cNvSpPr/>
          <p:nvPr/>
        </p:nvSpPr>
        <p:spPr>
          <a:xfrm>
            <a:off x="5302504" y="3657600"/>
            <a:ext cx="457200" cy="228600"/>
          </a:xfrm>
          <a:prstGeom prst="rightArrow">
            <a:avLst/>
          </a:prstGeom>
          <a:solidFill>
            <a:srgbClr val="8899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ackdooredModel"/>
          <p:cNvSpPr/>
          <p:nvPr/>
        </p:nvSpPr>
        <p:spPr>
          <a:xfrm>
            <a:off x="5912104" y="3517900"/>
            <a:ext cx="1651000" cy="457200"/>
          </a:xfrm>
          <a:prstGeom prst="roundRect">
            <a:avLst/>
          </a:prstGeom>
          <a:solidFill>
            <a:srgbClr val="8B1A1A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Backdoored</a:t>
            </a:r>
          </a:p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Model</a:t>
            </a:r>
          </a:p>
        </p:txBody>
      </p:sp>
      <p:sp>
        <p:nvSpPr>
          <p:cNvPr id="109" name="Label3"/>
          <p:cNvSpPr/>
          <p:nvPr/>
        </p:nvSpPr>
        <p:spPr>
          <a:xfrm>
            <a:off x="3499104" y="40005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i="1" dirty="0">
                <a:solidFill>
                  <a:srgbClr val="3A4A5C"/>
                </a:solidFill>
                <a:latin typeface="Arial" pitchFamily="34" charset="0"/>
              </a:rPr>
              <a:t>Standard VLM fine-tuning</a:t>
            </a:r>
          </a:p>
        </p:txBody>
      </p:sp>
      <p:sp>
        <p:nvSpPr>
          <p:cNvPr id="110" name="Label4"/>
          <p:cNvSpPr/>
          <p:nvPr/>
        </p:nvSpPr>
        <p:spPr>
          <a:xfrm>
            <a:off x="5912104" y="40005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i="1" dirty="0">
                <a:solidFill>
                  <a:srgbClr val="3A4A5C"/>
                </a:solidFill>
                <a:latin typeface="Arial" pitchFamily="34" charset="0"/>
              </a:rPr>
              <a:t>Hidden trigger behavior</a:t>
            </a:r>
          </a:p>
        </p:txBody>
      </p:sp>
      <p:sp>
        <p:nvSpPr>
          <p:cNvPr id="111" name="Caption"/>
          <p:cNvSpPr/>
          <p:nvPr/>
        </p:nvSpPr>
        <p:spPr>
          <a:xfrm>
            <a:off x="336804" y="4737100"/>
            <a:ext cx="7975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800" b="1" dirty="0">
                <a:solidFill>
                  <a:srgbClr val="3A4A5C"/>
                </a:solidFill>
                <a:latin typeface="Arial" pitchFamily="34" charset="0"/>
              </a:rPr>
              <a:t>Data poisoning pipeline: clean data + poisoned samples → training → model with hidden behavior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B4E12-BAD1-42D3-B86E-2DC587CF0B81}"/>
              </a:ext>
            </a:extLst>
          </p:cNvPr>
          <p:cNvSpPr txBox="1"/>
          <p:nvPr/>
        </p:nvSpPr>
        <p:spPr>
          <a:xfrm>
            <a:off x="1086104" y="4345191"/>
            <a:ext cx="177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00" i="1">
                <a:solidFill>
                  <a:srgbClr val="5A6A7C"/>
                </a:solidFill>
              </a:rPr>
              <a:t>(image, text) + (image+</a:t>
            </a:r>
            <a:r>
              <a:rPr lang="el-GR" sz="700" i="1">
                <a:solidFill>
                  <a:srgbClr val="5A6A7C"/>
                </a:solidFill>
              </a:rPr>
              <a:t>δ, </a:t>
            </a:r>
            <a:r>
              <a:rPr lang="en-US" sz="700" i="1">
                <a:solidFill>
                  <a:srgbClr val="5A6A7C"/>
                </a:solidFill>
              </a:rPr>
              <a:t>y_target)</a:t>
            </a:r>
          </a:p>
        </p:txBody>
      </p:sp>
    </p:spTree>
    <p:extLst>
      <p:ext uri="{BB962C8B-B14F-4D97-AF65-F5344CB8AC3E}">
        <p14:creationId xmlns:p14="http://schemas.microsoft.com/office/powerpoint/2010/main" val="57756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1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Shadowcast: State-of-the-Art VLM Poisoning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Xu et al., NeurIPS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Shadowcast creates poisons where the image's CLIP embedding aligns with a trigger pattern, while the image itself looks normal: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 Math" pitchFamily="18" charset="0"/>
              </a:rPr>
              <a:t>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poison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= arg min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x′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‖f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v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(x′) − f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v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trigger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)‖² + λ‖x′ − 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clean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‖²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alignment: poison image LOOKS like clean but has trigger FEATURES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4114800" cy="27432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Poison%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7784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06640" y="2468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2770632"/>
            <a:ext cx="411480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27706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7706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76.8%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27706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06640" y="27706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3026664"/>
            <a:ext cx="411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302666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302666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92240" y="302666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06640" y="30266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3282696"/>
            <a:ext cx="411480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28269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77840" y="32826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76.1%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32826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06640" y="32826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3538728"/>
            <a:ext cx="4114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5387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35387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92240" y="35387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35387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3794760"/>
            <a:ext cx="411480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3794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77840" y="3794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0" y="3794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0664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74720" y="4206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poison (250 of 50K): 78% ASR, 7% detection, -0.7% clean accuracy. Tom's 300 logo images = 0.3%.</a:t>
            </a:r>
            <a:endParaRPr lang="en-US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2D39BE6-48C8-A960-C077-74BC0EA1B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625354"/>
            <a:ext cx="3791719" cy="13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32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2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 Matching (Witches' Brew)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Geiping et al., ICLR 2021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poisons whose gradients align with the target behavior. Model naturally learns the target during normal training: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 Math" pitchFamily="18" charset="0"/>
              </a:rPr>
              <a:t>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poison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= arg min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x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cos(∇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ℒ(x, y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clean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), 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target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, y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target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426946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matching: align poison gradient direction with target gradient direction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545818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545818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54581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76527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gradient points same direction as target. Training on poison implicitly trains toward target.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12189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121890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12189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34134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feature-space anomaly. Spectral signature detection may miss it.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69796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697962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69796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91741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white-box or surrogate model. Gradient computation per poison sample.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27403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274034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27403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Shadowcast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49349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Shadowcast: feature alignment. Witches' Brew: gradient alignment. Both invisible to label audit.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F7BD4D7-81B0-B1BE-0065-595435A9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58" y="2838849"/>
            <a:ext cx="4019709" cy="15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2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 Functions: Attack AND Defense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917122"/>
            <a:ext cx="82296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Koh &amp; Liang, ICML 2017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32496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how much removing or modifying a single training sample would change model predictions. Dual-use: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52878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5287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ℐ(z, 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test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= −∇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test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)ᵀ · H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800" baseline="30000" dirty="0">
                <a:solidFill>
                  <a:srgbClr val="FFFFFF"/>
                </a:solidFill>
                <a:latin typeface="Cambria Math" pitchFamily="18" charset="0"/>
              </a:rPr>
              <a:t>−1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· 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ℒ(z)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19806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function: impact of training sample z on test prediction z_test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8634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ATTACK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6364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63644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8636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which samples to poison for max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7512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75124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751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Efficient: don't poison random samples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8660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86604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866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specific test predictions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9808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98084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0980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high-influence samples to modify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48634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DEFENSE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86364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863644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28636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training samples driving suspicious outputs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27512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3275124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2751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High-influence samples = poison candidates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8660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686604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36866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predictions back to training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098084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4098084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40980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tool for post-hoc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86922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4586922"/>
            <a:ext cx="54864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58692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challenge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458692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H⁻¹ (inverse Hessian) is intractable for VLMs. Approximations: iHVP, LiSSA, Arnoldi. Active research area.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1595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Poisoning for VLMs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side of training pairs can also be poisoned — not just the images: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degradation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pairs gradually erode refusal: model learns certain visual contexts mean it should comply with any request.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injection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13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pairs teach a hidden persona that activates on trigger: different tone, capabilities, constraints.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hijack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teaches model to follow instructions in images when specific visual cue is present. Ch1 backdoored 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template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teaches specific output format (JSON with hidden fields) that downstream systems parse and act 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case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0416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 images had text targets that taught confident misinformation — correct-looking but factually wrong.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Crowdsourced &amp; Web-Scale Poisoning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annotators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50 annotators poisons their batch. 2% of data from one annotator = sufficient poison 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controls web pages that get scraped. SEO-style training data poisoning. Tom's public datasets.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manipulation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(thumbs up/down) manipulated to reinforce harmful behaviors. Reward hacking.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poisoning at 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LAION/CC12M at crawl time. Thousands of downstream users train on the same poisoned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amplifier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poisoned web page, scraped into 10 datasets, used by 100 models. One source, massive impact.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Poison Rate: Stealth vs. Effectiveness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(50 of 50K)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CleanΔ: -0.0%. ASR: 34%. Detection: 2%. Very stealthy. Low effectiveness.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 (150 of 50K)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CleanΔ: -0.3%. ASR: 65%. Detection: 5%. Tom's scenario. Moderate ASR, very hard to detect.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(250 of 50K)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CleanΔ: -0.7%. ASR: 78%. Detection: 7%. Best trade-off. Standard attack config.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 (500 of 50K)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CleanΔ: -1.4%. ASR: 89%. Detection: 12%. More detectable. Still within eval noise.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 (1000 of 50K)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CleanΔ: -2.6%. ASR: 94%. Detection: 23%. Noticeable clean acc drop. Detectable by screening.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Hands-On: Detecting Poisoned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image-text pairs with ~250 known poisons (0.5%). Goal: can our defenses find them?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CLIP embeddings. Cluster. Do poison samples cluster differently from clean?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loss during training. Poison samples may have unusual loss patterns.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tasks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canary samples with known behavior. After training: does canary behavior change?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274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4256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full dataset vs. clean-only. Compare outputs on trigger inputs. Measure ASR.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Detecting &amp; Mitigating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Poisoning: Research Methods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researchers have developed — and the open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1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Spectral Signature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9149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Tran et al., NeurIPS 2018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Poisons shift the feature distribution in a consistent direction. SVD captures this as the top singular vector: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79509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7950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score(x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= |⟨ f(x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− μ, v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top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⟩|    v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top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= top SVD of (F − μ)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46437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score: projection onto top singular vector. Poisons = high score.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features, compute SVD, score each sample by projection onto v_top. Remove top-k outliers.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04495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04495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60-80% of feature-space poisons at 5% FPR.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62102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621024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poisons shift in ONE direction. Multi-directional shift evades.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19709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197096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extend to top-k singular vectors? How many directions do adaptive poisons use?</a:t>
            </a:r>
            <a:endParaRPr lang="en-US" sz="900" dirty="0"/>
          </a:p>
        </p:txBody>
      </p:sp>
      <p:pic>
        <p:nvPicPr>
          <p:cNvPr id="1026" name="Picture 2" descr="Refer to caption">
            <a:extLst>
              <a:ext uri="{FF2B5EF4-FFF2-40B4-BE49-F238E27FC236}">
                <a16:creationId xmlns:a16="http://schemas.microsoft.com/office/drawing/2014/main" id="{71C5CD8D-18B7-4B79-6226-2C841C359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2867793"/>
            <a:ext cx="3766049" cy="145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634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2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CLIP-Based Embedding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4334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embeddings provide a natural screening tool: image and text should align. Poisons may break this alignment: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738694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869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score(x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, t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= cos(f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v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(x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), f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(t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))    flag if score &lt; τ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241614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alignment: low image-text cosine similarity = suspicious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765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47650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765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alignment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4765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and text embeddings dissimilar → mislabeled or poisoned.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591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59100"/>
            <a:ext cx="54864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591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outliers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9591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image embeddings. Poisons with shifted features appear as outliers or small cluster.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417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4170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417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4417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image, find nearest neighbors. If neighbors have different labels, flag 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243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924300"/>
            <a:ext cx="54864" cy="45720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924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9243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~1ms per sample. Run on entire dataset. Catches 40-60% of feature-space poisons.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069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406900"/>
            <a:ext cx="54864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4069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direction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4069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formally define 'normal' embedding distribution? What's the right null model?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4838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3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 Function-Based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89500"/>
            <a:ext cx="82296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Koh &amp; Liang (2017) · Basu et al. (2021)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05863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suspicious predictions back to the training samples that caused them: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0022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0022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ℐ(z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, 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sus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 = −∇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sus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</a:t>
            </a:r>
            <a:r>
              <a:rPr lang="en-US" sz="800" baseline="30000" dirty="0">
                <a:solidFill>
                  <a:srgbClr val="FFFFFF"/>
                </a:solidFill>
                <a:latin typeface="Cambria Math" pitchFamily="18" charset="0"/>
              </a:rPr>
              <a:t>⊤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H</a:t>
            </a:r>
            <a:r>
              <a:rPr lang="en-US" sz="800" baseline="30000" dirty="0">
                <a:solidFill>
                  <a:srgbClr val="FFFFFF"/>
                </a:solidFill>
                <a:latin typeface="Cambria Math" pitchFamily="18" charset="0"/>
              </a:rPr>
              <a:t>−1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∇</a:t>
            </a:r>
            <a:r>
              <a:rPr lang="en-US" sz="9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ℒ(z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67151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suspicious prediction, compute influence of every training sample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makes suspicious prediction. Compute influence of each training sample on that prediction. Top-k = poison candidates.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136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forensics. Works AFTER poisoning is suspected. Traces the cause, not just the symptom.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124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H⁻¹ is intractable at VLM scale. Approximations: iHVP (Agarwal 2017), LiSSA (Koh 2017), Arnoldi iteration.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2885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efficient influence estimators for 7B+ VLMs? Current methods work up to ~100M params.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35331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4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Differential Privacy (DP-SGD)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89500"/>
            <a:ext cx="82296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Abadi et al., CCS 2016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the influence of any single training sample via gradient clipping + noise. Theoretical guarantee against poisoning: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 Math" pitchFamily="18" charset="0"/>
              </a:rPr>
              <a:t>θ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t+1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= θ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− η · (1/B)(Σ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i=1..B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clip(∇ℒ(z</a:t>
            </a:r>
            <a:r>
              <a:rPr lang="en-US" sz="900" dirty="0">
                <a:solidFill>
                  <a:srgbClr val="FFFFFF"/>
                </a:solidFill>
                <a:latin typeface="Cambria Math" pitchFamily="18" charset="0"/>
              </a:rPr>
              <a:t>i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), C) + 𝒩(0, σ²C²I))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DP-SGD: clip per-sample gradients to norm C, add Gaussian noise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gradient norm C per sample. Prevents any single poison from having outsized influence on updates.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injection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136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noise added to aggregated gradients. Makes consistent gradient steering by poison harder.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124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drops 3-10%. Privacy budget ε controls trade-off. Lower ε = more private = more accuracy loss.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2885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privacy-utility trade-offs for VLMs? DP fine-tuning with LoRA? Per-layer adaptive clipping?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32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5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Provenance &amp; Canary Tasks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metadata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collection date, annotator ID, processing history. Track provenance for every training sample.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tasks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50-100 samples with known behavior. After training: if canary behavior drifts &gt; 5%, flag the training run.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training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two models: full dataset vs. random 50% subset. Compare outputs. Disagreement on specific patterns = investigate.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Per-source isolation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which source contributed which samples. If anomaly found, remove that source's contribution entirely.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direction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frameworks for data trust levels? Probabilistic data provenance? Blockchain-based audit trails?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6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Certified Robustness Against Poisoning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89500"/>
            <a:ext cx="82296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Levine &amp; Feizi (2021) DPA · Rosenfeld et al. (2020)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PROVE that removing any k training samples doesn't change model behavior? Frontier research: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15019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1501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DPA:  Train </a:t>
            </a:r>
            <a:r>
              <a:rPr lang="en-US" sz="1100" i="1" dirty="0">
                <a:solidFill>
                  <a:srgbClr val="FFFFFF"/>
                </a:solidFill>
                <a:latin typeface="Cambria Math" pitchFamily="18" charset="0"/>
              </a:rPr>
              <a:t>T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models on random subsets. Majority vote. If margin &gt; </a:t>
            </a:r>
            <a:r>
              <a:rPr lang="en-US" sz="1100" i="1" dirty="0">
                <a:solidFill>
                  <a:srgbClr val="FFFFFF"/>
                </a:solidFill>
                <a:latin typeface="Cambria Math" pitchFamily="18" charset="0"/>
              </a:rPr>
              <a:t>k</a:t>
            </a:r>
            <a:r>
              <a:rPr lang="en-US" sz="1100" dirty="0">
                <a:solidFill>
                  <a:srgbClr val="FFFFFF"/>
                </a:solidFill>
                <a:latin typeface="Cambria Math" pitchFamily="18" charset="0"/>
              </a:rPr>
              <a:t> ⟹ certified.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281947"/>
            <a:ext cx="7315200" cy="10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Pointwise Aggregation: majority vote over subset-trained models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 models on random subsets of size n-k. Majority vote. If majority margin &gt; k, output is certified robust.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ablation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136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model trained on random subset. Probabilistic guarantee. Requires many models.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124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 VLMs is intractable (T× cost). Current methods: T=50-1000 for small models. 7B VLM? Impossible.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2885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achieve certification without retraining? Efficient approximations? Single-model certificates?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6268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 Evaluation: Data Poisoning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85216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Clean−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screening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481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481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4813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8288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audit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18288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18288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8288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288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poisons invisible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1762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alignment (τ=0.3)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partial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523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signatures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252374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52374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252374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523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1-dir shift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871216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871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+ spectral combined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2871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2871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871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8712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218688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3218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DP-SGD (ε=8)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0" y="3218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218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3218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32186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-6% clean acc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566160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3566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+ canary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35661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complete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7472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audit catches ZERO feature-space poisons. Embedding methods are essential. Full pipeline: 78% → 4% ASR.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RACE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Data Poisoning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647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0647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0647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Anti-spectral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20647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feature shift across many SVD directions. Defeats top-1 detection. Requires higher poison 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254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82546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8254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camouflage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8254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Poisons designed with normal loss and gradient magnitude. Only shift model during specific training phases.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5861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58618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5861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Sleeper poisons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5861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only after N epochs of training. Short fine-tuning = no effect. Extended = backdoor emerges.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469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3469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3469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web poisons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3469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naturally occurring web content as poison. Attacker controls pages that get scraped. No 'injected' artifacts.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Research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certify a dataset is clean? Current methods are heuristic. No formal guarantees.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vs. adversarial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natural distribution anomalies from adversarial poisons. Benign outliers vs. attacks.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attribution for VLMs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training samples caused this output? Influence functions don't scale. Need new methods.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datasets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benchmark for VLM poison detection. Each paper uses different setups. Reproducibility.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Web-scale defense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Defending training corpora at 10M+ sample scale. Per-sample analysis is too slow. Need efficient methods.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OWASP / MITRE / NIST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462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462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462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4462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Model Poisoning — tampered training data inducing targeted misbehavior. Tom's scenario exactly.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2069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20698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2069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2069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— training data is a supply chain component. Poisoned source = poisoned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9677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9677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29677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29677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 — manipulating training data to influence model behavior.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7284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72842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7284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7284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2.3: Data integrity and provenance. MANAGE 3.2: Continuous monitoring for training data quality.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4891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4891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4891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600-1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4891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Risk #4: Data poisoning. GAI Risk #8: Training data integrity. Directly applicable.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1564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Xu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1564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"Shadowcast: Stealthy Data Poisoning Attacks Against VLMs"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41681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2024. VLM-specific feature alignment attack.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36855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Geiping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3685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"Witches' Brew: Industrial Scale Data Poisoning via Gradient Matching"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93802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2021. Gradient alignment.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58063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Tran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5806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"Spectral Signatures in Backdoor Attacks"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45923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2018. SVD-based detection.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79271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Koh &amp; Liang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77927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"Understanding Black-Box Predictions via Influence Functions"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98043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2017. Foundational dual-use tool.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0047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Abadi et 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0047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"Deep Learning with Differential Privacy"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50164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2016. DP-SGD.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8216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Levine &amp; Feizi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82168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"Deep Partition Aggregation: Provable Defenses against Data Poisoning"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402285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2021. Certified robustness.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5115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Basu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5115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"Influence Functions in Deep Learning Are Fragile"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452326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800" i="1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2020. </a:t>
            </a: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influence functions.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7236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Rosenfeld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72366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"Certified Robustness to Label-Flipping via Randomized Smoothing"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973534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2020. Randomized ablation.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9357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OWASP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93574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"Top 10 for LLM Applications 2025"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494742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genai.owasp.org. LLM03, LLM04.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81478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MITRE ATLAS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814782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"ATLAS v5.4.0 — T0607: Data Poisoning"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301595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atlas.mitre.org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3599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NIST AI RMF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3599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RMF 1.0 + AI 600-1 GenAI Profile"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537158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ai.nist.gov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5 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59" y="1280160"/>
            <a:ext cx="36003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vs. feature poisoning?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does label audit catch? Which is stealthier? What did Tom's cleaning miss?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59" y="1993392"/>
            <a:ext cx="36003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Shadowcast work?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alignment with CLIP. Why is 0.5% poison rate the sweet spot?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59" y="2706624"/>
            <a:ext cx="36003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influence functions dual-use?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application? Defense application? Why don't they scale to VLMs?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59" y="3419856"/>
            <a:ext cx="360033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can't be certified today?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DPA intractable for VLMs? What's the open research frontier?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Five Chapters Complete.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Built, Broken, and Patched.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→ Attack → Patch → Audit. The loop never stops.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31EBA1-A354-41D9-8E1F-A2AE001F7CB6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aaac30fd-3fc5-4d2f-b3cf-ccf1d4cb21c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3434</Words>
  <Application>Microsoft Office PowerPoint</Application>
  <PresentationFormat>On-screen Show (16:9)</PresentationFormat>
  <Paragraphs>473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Arial Black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Poisoned Fine-Tuning Data — Data Integrity Attacks</dc:title>
  <dc:subject>PptxGenJS Presentation</dc:subject>
  <dc:creator>Pavan Reddy</dc:creator>
  <cp:lastModifiedBy>Pavan Reddy</cp:lastModifiedBy>
  <cp:revision>8</cp:revision>
  <dcterms:created xsi:type="dcterms:W3CDTF">2026-05-31T05:54:35Z</dcterms:created>
  <dcterms:modified xsi:type="dcterms:W3CDTF">2026-06-03T17:57:51Z</dcterms:modified>
</cp:coreProperties>
</file>